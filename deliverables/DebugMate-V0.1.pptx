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28016" cy="502920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1325880"/>
            <a:ext cx="9875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icrosoft YaHei"/>
              </a:defRPr>
            </a:pPr>
            <a:r>
              <a:t>DebugMate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9875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0">
                <a:solidFill>
                  <a:srgbClr val="FFFFFF"/>
                </a:solidFill>
                <a:latin typeface="Microsoft YaHei"/>
              </a:defRPr>
            </a:pPr>
            <a:r>
              <a:t>面向 AI 专业学习场景的多模态报错诊断与复盘智能体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8595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BEDEEB"/>
                </a:solidFill>
                <a:latin typeface="Microsoft YaHei"/>
              </a:defRPr>
            </a:pPr>
            <a:r>
              <a:t>《校外实训》课程项目 · V0.1 本地演示版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83480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有依据 · 可执行 · 说明不确定性 · 文字 / PNG / MP3 同源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为什么要做 DebugMate？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问题背景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" cy="429768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4416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报错信息复杂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3017520" cy="3675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Traceback、环境、版本、路径和截图分散，学生很难判断应该先检查哪一项。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344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73152" cy="429768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34416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EB713E"/>
                </a:solidFill>
                <a:latin typeface="Microsoft YaHei"/>
              </a:defRPr>
            </a:pPr>
            <a:r>
              <a:t>通用回答缺证据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737360"/>
            <a:ext cx="3017520" cy="3675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普通对话容易给出看似合理的安装命令，却没有绑定当前环境和官方资料。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2344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234440"/>
            <a:ext cx="73152" cy="4297680"/>
          </a:xfrm>
          <a:prstGeom prst="rect">
            <a:avLst/>
          </a:prstGeom>
          <a:solidFill>
            <a:srgbClr val="2B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34416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BA6B5"/>
                </a:solidFill>
                <a:latin typeface="Microsoft YaHei"/>
              </a:defRPr>
            </a:pPr>
            <a:r>
              <a:t>复盘难以沉淀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1737360"/>
            <a:ext cx="3017520" cy="3675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一次修好不等于真正理解；缺少结构化报告、流程图和语音总结。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2B46"/>
                </a:solidFill>
                <a:latin typeface="Microsoft YaHei"/>
              </a:defRPr>
            </a:pPr>
            <a:r>
              <a:t>目标：把一次报错转化为可追溯、可检查、可复盘的学习过程。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V0.1 的目标与边界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按课程价值收束，而非生产发布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1663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73152" cy="4389120"/>
          </a:xfrm>
          <a:prstGeom prst="rect">
            <a:avLst/>
          </a:prstGeom>
          <a:solidFill>
            <a:srgbClr val="318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44168"/>
            <a:ext cx="4800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31885B"/>
                </a:solidFill>
                <a:latin typeface="Microsoft YaHei"/>
              </a:defRPr>
            </a:pPr>
            <a:r>
              <a:t>必须完成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754880" cy="3767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• Windows 本地浏览器真实演示</a:t>
            </a:r>
            <a:br/>
            <a:r>
              <a:t>• 专属知识库与完整工作流</a:t>
            </a:r>
            <a:br/>
            <a:r>
              <a:t>• 上传前自动脱敏 + 预览确认</a:t>
            </a:r>
            <a:br/>
            <a:r>
              <a:t>• 同源文字报告、PNG、MP3、ZIP</a:t>
            </a:r>
            <a:br/>
            <a:r>
              <a:t>• 3–5 个代表性案例</a:t>
            </a:r>
            <a:br/>
            <a:r>
              <a:t>• PPT 与 3 分钟以上讲解视频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234440"/>
            <a:ext cx="51663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234440"/>
            <a:ext cx="73152" cy="4389120"/>
          </a:xfrm>
          <a:prstGeom prst="rect">
            <a:avLst/>
          </a:prstGeom>
          <a:solidFill>
            <a:srgbClr val="CC8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344168"/>
            <a:ext cx="4800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CC841E"/>
                </a:solidFill>
                <a:latin typeface="Microsoft YaHei"/>
              </a:defRPr>
            </a:pPr>
            <a:r>
              <a:t>明确延后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737360"/>
            <a:ext cx="4754880" cy="3767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• 公网部署、账户与权限</a:t>
            </a:r>
            <a:br/>
            <a:r>
              <a:t>• SLA、监控、并发和跨平台</a:t>
            </a:r>
            <a:br/>
            <a:r>
              <a:t>• 完整 15 行视觉认证</a:t>
            </a:r>
            <a:br/>
            <a:r>
              <a:t>• 原子 evidence generation/pointer</a:t>
            </a:r>
            <a:br/>
            <a:r>
              <a:t>• 故障注入和攻击矩阵</a:t>
            </a:r>
            <a:br/>
            <a:r>
              <a:t>• 必须依赖付费云端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工具分工与总体架构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云端可选增强，本地闭环保证可演示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73152" cy="224028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84248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多模态输入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39"/>
            <a:ext cx="1645920" cy="1618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文本 / 截图 / 代码 / 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265176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EB713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74519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39" y="1874519"/>
            <a:ext cx="73152" cy="2240280"/>
          </a:xfrm>
          <a:prstGeom prst="rect">
            <a:avLst/>
          </a:prstGeom>
          <a:solidFill>
            <a:srgbClr val="2B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39" y="1984248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BA6B5"/>
                </a:solidFill>
                <a:latin typeface="Microsoft YaHei"/>
              </a:defRPr>
            </a:pPr>
            <a:r>
              <a:t>隐私预览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2377439"/>
            <a:ext cx="1645920" cy="1618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OCR + 规则脱敏 + 用户确认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1" y="265176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EB713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874519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59" y="1874519"/>
            <a:ext cx="73152" cy="224028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59" y="1984248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EB713E"/>
                </a:solidFill>
                <a:latin typeface="Microsoft YaHei"/>
              </a:defRPr>
            </a:pPr>
            <a:r>
              <a:t>诊断工作流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2377439"/>
            <a:ext cx="1645920" cy="1618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分类 + 知识检索 + 结构化推理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265176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EB713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874519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1874519"/>
            <a:ext cx="73152" cy="224028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1984248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单一事实源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2377439"/>
            <a:ext cx="1645920" cy="1618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DiagnosisRecord 1.1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1" y="265176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EB713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874519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1874519"/>
            <a:ext cx="73152" cy="2240280"/>
          </a:xfrm>
          <a:prstGeom prst="rect">
            <a:avLst/>
          </a:prstGeom>
          <a:solidFill>
            <a:srgbClr val="318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1984248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31885B"/>
                </a:solidFill>
                <a:latin typeface="Microsoft YaHei"/>
              </a:defRPr>
            </a:pPr>
            <a:r>
              <a:t>三模态结果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377439"/>
            <a:ext cx="1645920" cy="1618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报告 + PNG + MP3 + ZIP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80060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2B46"/>
                </a:solidFill>
                <a:latin typeface="Microsoft YaHei"/>
              </a:defRPr>
            </a:pPr>
            <a:r>
              <a:t>Dify Cloud：视觉 / RAG / LLM 编排（可选）    |    本地 Python：脱敏 / 校验 / 产物 / Gradio（稳定主闭环）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专属知识库：只用可核验官方来源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17 个来源，覆盖 7 类技术主题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73152" cy="150876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8988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Python 异常与导入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167127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保存标题、URL、版本范围、错误类别与选择理由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28016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8728" y="1280160"/>
            <a:ext cx="73152" cy="1508760"/>
          </a:xfrm>
          <a:prstGeom prst="rect">
            <a:avLst/>
          </a:prstGeom>
          <a:solidFill>
            <a:srgbClr val="2B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138988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BA6B5"/>
                </a:solidFill>
                <a:latin typeface="Microsoft YaHei"/>
              </a:defRPr>
            </a:pPr>
            <a:r>
              <a:t>pip / venv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1783080"/>
            <a:ext cx="2167127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保存标题、URL、版本范围、错误类别与选择理由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656" y="128016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1656" y="1280160"/>
            <a:ext cx="73152" cy="150876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6" y="138988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EB713E"/>
                </a:solidFill>
                <a:latin typeface="Microsoft YaHei"/>
              </a:defRPr>
            </a:pPr>
            <a:r>
              <a:t>PyTorch 张量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1783080"/>
            <a:ext cx="2167127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保存标题、URL、版本范围、错误类别与选择理由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44584" y="128016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44584" y="1280160"/>
            <a:ext cx="73152" cy="1508760"/>
          </a:xfrm>
          <a:prstGeom prst="rect">
            <a:avLst/>
          </a:prstGeom>
          <a:solidFill>
            <a:srgbClr val="318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73184" y="138988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31885B"/>
                </a:solidFill>
                <a:latin typeface="Microsoft YaHei"/>
              </a:defRPr>
            </a:pPr>
            <a:r>
              <a:t>CUDA 与显存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3184" y="1783080"/>
            <a:ext cx="2167127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保存标题、URL、版本范围、错误类别与选择理由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004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200400"/>
            <a:ext cx="73152" cy="150876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31012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Hugging 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03320"/>
            <a:ext cx="2167127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保存标题、URL、版本范围、错误类别与选择理由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38728" y="32004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38728" y="3200400"/>
            <a:ext cx="73152" cy="1508760"/>
          </a:xfrm>
          <a:prstGeom prst="rect">
            <a:avLst/>
          </a:prstGeom>
          <a:solidFill>
            <a:srgbClr val="2B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67328" y="331012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BA6B5"/>
                </a:solidFill>
                <a:latin typeface="Microsoft YaHei"/>
              </a:defRPr>
            </a:pPr>
            <a:r>
              <a:t>Ultralytics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7328" y="3703320"/>
            <a:ext cx="2167127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保存标题、URL、版本范围、错误类别与选择理由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91656" y="32004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91656" y="3200400"/>
            <a:ext cx="73152" cy="150876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0256" y="3310128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EB713E"/>
                </a:solidFill>
                <a:latin typeface="Microsoft YaHei"/>
              </a:defRPr>
            </a:pPr>
            <a:r>
              <a:t>Windows 路径 / PowerShell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3703320"/>
            <a:ext cx="2167127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保存标题、URL、版本范围、错误类别与选择理由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349240"/>
            <a:ext cx="10424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诊断输出引用命中的 evidence_id；没有证据时写明缺失信息，而不是补造确定结论。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隐私安全与完整工作流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自动脱敏 + 上传前预览确认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143000"/>
            <a:ext cx="438912" cy="438912"/>
          </a:xfrm>
          <a:prstGeom prst="ellipse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430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124712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本机校验输入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837943"/>
            <a:ext cx="438912" cy="438912"/>
          </a:xfrm>
          <a:prstGeom prst="ellipse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37943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19655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OCR / 正则发现敏感项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32888"/>
            <a:ext cx="438912" cy="438912"/>
          </a:xfrm>
          <a:prstGeom prst="ellipse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3288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5146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生成脱敏文本与遮挡图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227832"/>
            <a:ext cx="438912" cy="438912"/>
          </a:xfrm>
          <a:prstGeom prst="ellipse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2783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209544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用户预览并确认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922776"/>
            <a:ext cx="438912" cy="438912"/>
          </a:xfrm>
          <a:prstGeom prst="ellipse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2277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0448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事实抽取与纠错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617720"/>
            <a:ext cx="438912" cy="438912"/>
          </a:xfrm>
          <a:prstGeom prst="ellipse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177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599432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知识检索与诊断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5312664"/>
            <a:ext cx="438912" cy="438912"/>
          </a:xfrm>
          <a:prstGeom prst="ellipse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312664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294376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多模态派生与二次扫描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1280160"/>
            <a:ext cx="4617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0" y="1280160"/>
            <a:ext cx="73152" cy="4297680"/>
          </a:xfrm>
          <a:prstGeom prst="rect">
            <a:avLst/>
          </a:prstGeom>
          <a:solidFill>
            <a:srgbClr val="2B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1389888"/>
            <a:ext cx="42519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BA6B5"/>
                </a:solidFill>
                <a:latin typeface="Microsoft YaHei"/>
              </a:defRPr>
            </a:pPr>
            <a:r>
              <a:t>默认保护对象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783080"/>
            <a:ext cx="4206240" cy="3675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Token / 密码</a:t>
            </a:r>
            <a:br/>
            <a:r>
              <a:t>邮箱 / 用户名</a:t>
            </a:r>
            <a:br/>
            <a:r>
              <a:t>Windows 与 Linux 绝对路径</a:t>
            </a:r>
            <a:br/>
            <a:r>
              <a:t>截图中的敏感像素区域</a:t>
            </a:r>
            <a:br/>
            <a:r>
              <a:t>日志与导出物中的二次泄漏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提示词 V1–V4：从“能回答”到“可派生”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优化重点是结构、证据和一致性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587752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3474720"/>
          </a:xfrm>
          <a:prstGeom prst="rect">
            <a:avLst/>
          </a:prstGeom>
          <a:solidFill>
            <a:srgbClr val="5B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27048"/>
            <a:ext cx="22219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5B6C7A"/>
                </a:solidFill>
                <a:latin typeface="Microsoft YaHei"/>
              </a:defRPr>
            </a:pPr>
            <a:r>
              <a:t>V1 · 基础诊断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2176272" cy="2852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类别 / 原因 / 步骤</a:t>
            </a:r>
            <a:br/>
            <a:r>
              <a:t>问题：格式与依据不稳定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417320"/>
            <a:ext cx="2587752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417320"/>
            <a:ext cx="73152" cy="347472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1" y="1527048"/>
            <a:ext cx="22219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V2 · 引用约束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1920240"/>
            <a:ext cx="2176272" cy="2852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fact/evidence 绑定</a:t>
            </a:r>
            <a:br/>
            <a:r>
              <a:t>事实 / 推断 / 缺失信息分离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417320"/>
            <a:ext cx="2587752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1417320"/>
            <a:ext cx="73152" cy="347472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1527048"/>
            <a:ext cx="22219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EB713E"/>
                </a:solidFill>
                <a:latin typeface="Microsoft YaHei"/>
              </a:defRPr>
            </a:pPr>
            <a:r>
              <a:t>V3 · 结构可靠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1920240"/>
            <a:ext cx="2176272" cy="2852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DiagnosisRecord JSON</a:t>
            </a:r>
            <a:br/>
            <a:r>
              <a:t>命令影响 / 预期 / 回退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576" y="1417320"/>
            <a:ext cx="2587752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0576" y="1417320"/>
            <a:ext cx="73152" cy="3474720"/>
          </a:xfrm>
          <a:prstGeom prst="rect">
            <a:avLst/>
          </a:prstGeom>
          <a:solidFill>
            <a:srgbClr val="318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1527048"/>
            <a:ext cx="22219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31885B"/>
                </a:solidFill>
                <a:latin typeface="Microsoft YaHei"/>
              </a:defRPr>
            </a:pPr>
            <a:r>
              <a:t>V4 · 课程定稿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1920240"/>
            <a:ext cx="2176272" cy="2852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recap 长度与中英分工</a:t>
            </a:r>
            <a:br/>
            <a:r>
              <a:t>报告 / PNG / MP3 同源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2B46"/>
                </a:solidFill>
                <a:latin typeface="Microsoft YaHei"/>
              </a:defRPr>
            </a:pPr>
            <a:r>
              <a:t>真实性说明：V1 已由固定案例 manifest 记录；V2–V4 为可直接配置的设计迭代，不伪造云端批量分数。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完整成果：统一诊断工作台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当前代码真实 Microsoft Edge 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21" y="1051560"/>
            <a:ext cx="7262037" cy="5257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23444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75320" y="1234440"/>
            <a:ext cx="73152" cy="438912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344168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页面同时展示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737360"/>
            <a:ext cx="2926079" cy="3767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• 脱敏输入与抽取字段</a:t>
            </a:r>
            <a:br/>
            <a:r>
              <a:t>• 错误类别与置信度</a:t>
            </a:r>
            <a:br/>
            <a:r>
              <a:t>• 事实和官方引用</a:t>
            </a:r>
            <a:br/>
            <a:r>
              <a:t>• 文字报告 / 诊断卡 / 语音</a:t>
            </a:r>
            <a:br/>
            <a:r>
              <a:t>• 来源运行标识</a:t>
            </a:r>
            <a:br/>
            <a:r>
              <a:t>• 完整 ZIP 下载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5806440"/>
            <a:ext cx="3246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B713E"/>
                </a:solidFill>
                <a:latin typeface="Microsoft YaHei"/>
              </a:defRPr>
            </a:pPr>
            <a:r>
              <a:t>页面明确标注“离线回放”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三模态由同一诊断对象派生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不是装饰图片或无关配音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43434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35607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文字报告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3017520" cy="3721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事实、根因候选、缺失信息、检查、修复、验证、置信度与局限。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73152" cy="434340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35607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EB713E"/>
                </a:solidFill>
                <a:latin typeface="Microsoft YaHei"/>
              </a:defRPr>
            </a:pPr>
            <a:r>
              <a:t>PNG 诊断卡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28800"/>
            <a:ext cx="3017520" cy="3721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Pillow 确定性绘制，保留类别、证据关系和关键步骤；不让图像模型改写证据。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4343400"/>
          </a:xfrm>
          <a:prstGeom prst="rect">
            <a:avLst/>
          </a:prstGeom>
          <a:solidFill>
            <a:srgbClr val="318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35607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31885B"/>
                </a:solidFill>
                <a:latin typeface="Microsoft YaHei"/>
              </a:defRPr>
            </a:pPr>
            <a:r>
              <a:t>MP3 语音复盘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3017520" cy="3721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从同一 recap_text 合成；记录后端、时长和降级原因，并用 FFmpeg 验证。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852160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2B46"/>
                </a:solidFill>
                <a:latin typeface="Microsoft YaHei"/>
              </a:defRPr>
            </a:pPr>
            <a:r>
              <a:t>共同身份：case_id + source_run_id + diagnosis hash + schema version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失败也要诚实：部分完成与最小重试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当前代码真实 Edge 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10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20072"/>
            <a:ext cx="5440680" cy="369217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720072"/>
            <a:ext cx="5440680" cy="36921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989320"/>
            <a:ext cx="5074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CC841E"/>
                </a:solidFill>
                <a:latin typeface="Microsoft YaHei"/>
              </a:defRPr>
            </a:pPr>
            <a:r>
              <a:t>TTS 失败：保留报告与诊断卡，只重试语音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598932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CC841E"/>
                </a:solidFill>
                <a:latin typeface="Microsoft YaHei"/>
              </a:defRPr>
            </a:pPr>
            <a:r>
              <a:t>PNG 失败：保留报告与语音，只重试诊断卡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V0.1 代表性验证结果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课程演示所需，而非生产发布认证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25786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25880"/>
            <a:ext cx="73152" cy="1965960"/>
          </a:xfrm>
          <a:prstGeom prst="rect">
            <a:avLst/>
          </a:prstGeom>
          <a:solidFill>
            <a:srgbClr val="318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35607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31885B"/>
                </a:solidFill>
                <a:latin typeface="Microsoft YaHei"/>
              </a:defRPr>
            </a:pPr>
            <a:r>
              <a:t>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28800"/>
            <a:ext cx="2167127" cy="1344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界面 / 状态 / 回调测试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572768"/>
            <a:ext cx="2286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31885B"/>
                </a:solidFill>
                <a:latin typeface="Microsoft YaHei"/>
              </a:defRPr>
            </a:pPr>
            <a:r>
              <a:t>58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325880"/>
            <a:ext cx="25786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39" y="1325880"/>
            <a:ext cx="73152" cy="196596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435607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264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828800"/>
            <a:ext cx="2167127" cy="1344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报告 / PNG / MP3 / 结果模块测试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9" y="1572768"/>
            <a:ext cx="2286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2A6F97"/>
                </a:solidFill>
                <a:latin typeface="Microsoft YaHei"/>
              </a:defRPr>
            </a:pPr>
            <a:r>
              <a:t>264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1325880"/>
            <a:ext cx="25786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2512" y="1325880"/>
            <a:ext cx="73152" cy="1965960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435607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EB713E"/>
                </a:solidFill>
                <a:latin typeface="Microsoft YaHei"/>
              </a:defRPr>
            </a:pPr>
            <a:r>
              <a:t>4+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1828800"/>
            <a:ext cx="2167127" cy="1344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代表性真实 Edge 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1572768"/>
            <a:ext cx="2286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EB713E"/>
                </a:solidFill>
                <a:latin typeface="Microsoft YaHei"/>
              </a:defRPr>
            </a:pPr>
            <a:r>
              <a:t>4+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44584" y="1325880"/>
            <a:ext cx="25786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44584" y="1325880"/>
            <a:ext cx="73152" cy="1965960"/>
          </a:xfrm>
          <a:prstGeom prst="rect">
            <a:avLst/>
          </a:prstGeom>
          <a:solidFill>
            <a:srgbClr val="2B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73184" y="1435607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BA6B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1828800"/>
            <a:ext cx="2167127" cy="1344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真实 ZIP 同次运行验证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1572768"/>
            <a:ext cx="2286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2BA6B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7033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22B46"/>
                </a:solidFill>
                <a:latin typeface="Microsoft YaHei"/>
              </a:defRPr>
            </a:pPr>
            <a:r>
              <a:t>• 键盘顺序与状态播报</a:t>
            </a:r>
          </a:p>
          <a:p>
            <a:pPr>
              <a:spcAft>
                <a:spcPts val="1000"/>
              </a:spcAft>
              <a:defRPr sz="1700">
                <a:solidFill>
                  <a:srgbClr val="122B46"/>
                </a:solidFill>
                <a:latin typeface="Microsoft YaHei"/>
              </a:defRPr>
            </a:pPr>
            <a:r>
              <a:t>• 200% 缩放与无整体横向溢出</a:t>
            </a:r>
          </a:p>
          <a:p>
            <a:pPr>
              <a:spcAft>
                <a:spcPts val="1000"/>
              </a:spcAft>
              <a:defRPr sz="1700">
                <a:solidFill>
                  <a:srgbClr val="122B46"/>
                </a:solidFill>
                <a:latin typeface="Microsoft YaHei"/>
              </a:defRPr>
            </a:pPr>
            <a:r>
              <a:t>• 长报告、长命令和高诊断卡</a:t>
            </a:r>
          </a:p>
          <a:p>
            <a:pPr>
              <a:spcAft>
                <a:spcPts val="1000"/>
              </a:spcAft>
              <a:defRPr sz="1700">
                <a:solidFill>
                  <a:srgbClr val="122B46"/>
                </a:solidFill>
                <a:latin typeface="Microsoft YaHei"/>
              </a:defRPr>
            </a:pPr>
            <a:r>
              <a:t>• 成功 / 部分完成 / 失败状态辨识</a:t>
            </a:r>
          </a:p>
          <a:p>
            <a:pPr>
              <a:spcAft>
                <a:spcPts val="1000"/>
              </a:spcAft>
              <a:defRPr sz="1700">
                <a:solidFill>
                  <a:srgbClr val="122B46"/>
                </a:solidFill>
                <a:latin typeface="Microsoft YaHei"/>
              </a:defRPr>
            </a:pPr>
            <a:r>
              <a:t>• ZIP 文件名、MIME、manifest、校验值与 source_run_id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局限与后续改进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如实说明大模型工具的边界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4434840"/>
          </a:xfrm>
          <a:prstGeom prst="rect">
            <a:avLst/>
          </a:prstGeom>
          <a:solidFill>
            <a:srgbClr val="CC8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4416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CC841E"/>
                </a:solidFill>
                <a:latin typeface="Microsoft YaHei"/>
              </a:defRPr>
            </a:pPr>
            <a:r>
              <a:t>当前局限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3017520" cy="3813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• Dify 在线能力受账号与额度影响</a:t>
            </a:r>
            <a:br/>
            <a:r>
              <a:t>• 案例数量少，不能代表全面覆盖</a:t>
            </a:r>
            <a:br/>
            <a:r>
              <a:t>• SAPI 正式录制前需人工试听</a:t>
            </a:r>
            <a:br/>
            <a:r>
              <a:t>• 回放不等同于云端实时推理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73152" cy="443484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34416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2A6F97"/>
                </a:solidFill>
                <a:latin typeface="Microsoft YaHei"/>
              </a:defRPr>
            </a:pPr>
            <a:r>
              <a:t>近期改进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737360"/>
            <a:ext cx="3017520" cy="3813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• 完成 Dify 图像 + RAG smoke test</a:t>
            </a:r>
            <a:br/>
            <a:r>
              <a:t>• 增加 CUDA 显存和张量形状案例</a:t>
            </a:r>
            <a:br/>
            <a:r>
              <a:t>• 用同案例对照 V1–V4</a:t>
            </a:r>
            <a:br/>
            <a:r>
              <a:t>• 继续精简首屏和录屏操作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344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F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73152" cy="4434840"/>
          </a:xfrm>
          <a:prstGeom prst="rect">
            <a:avLst/>
          </a:prstGeom>
          <a:solidFill>
            <a:srgbClr val="318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4416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31885B"/>
                </a:solidFill>
                <a:latin typeface="Microsoft YaHei"/>
              </a:defRPr>
            </a:pPr>
            <a:r>
              <a:t>长期方向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3017520" cy="3813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122B46"/>
                </a:solidFill>
                <a:latin typeface="Microsoft YaHei"/>
              </a:defRPr>
            </a:pPr>
            <a:r>
              <a:t>• 更多框架与错误类别</a:t>
            </a:r>
            <a:br/>
            <a:r>
              <a:t>• 个性化学习复盘</a:t>
            </a:r>
            <a:br/>
            <a:r>
              <a:t>• 可信度校准与人机协作</a:t>
            </a:r>
            <a:br/>
            <a:r>
              <a:t>• 经批准后再考虑部署与监控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914400" cy="54864"/>
          </a:xfrm>
          <a:prstGeom prst="rect">
            <a:avLst/>
          </a:prstGeom>
          <a:solidFill>
            <a:srgbClr val="EB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13232"/>
            <a:ext cx="9509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5B6C7A"/>
                </a:solidFill>
                <a:latin typeface="Microsoft YaHei"/>
              </a:defRPr>
            </a:pPr>
            <a:r>
              <a:t>DebugMate V0.1 已形成完整课程闭环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B6C7A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122B46"/>
                </a:solidFill>
                <a:latin typeface="Microsoft YaHei"/>
              </a:defRPr>
            </a:pPr>
            <a:r>
              <a:t>一次真实或可复现的 AI/Python 报错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EB713E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2A6F97"/>
                </a:solidFill>
                <a:latin typeface="Microsoft YaHei"/>
              </a:defRPr>
            </a:pPr>
            <a:r>
              <a:t>隐私确认 + 官方知识 + 结构化诊断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EB713E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31885B"/>
                </a:solidFill>
                <a:latin typeface="Microsoft YaHei"/>
              </a:defRPr>
            </a:pPr>
            <a:r>
              <a:t>文字报告 + PNG 诊断卡 + MP3 语音复盘 + ZIP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22B46"/>
                </a:solidFill>
                <a:latin typeface="Microsoft YaHei"/>
              </a:defRPr>
            </a:pPr>
            <a:r>
              <a:t>帮助 AI 专业学生把“修好一次”变成“理解并复盘一次”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