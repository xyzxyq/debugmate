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ebugmate-defense-p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ebugmate-defense-p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e5e22d6d56e24cb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989af7ccc015c36.png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c826b40123418f9.png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0d929f03eecfee4.png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a24d724188073f9.png"/>
  <Relationship Id="rId3" Type="http://schemas.openxmlformats.org/officeDocument/2006/relationships/image" Target="../media/image_801cc5765744eee1.png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11297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DEFENSE DECK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01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rcRect l="20688" t="0" r="20687" b="0"/>
            <a:stretch>
              <a:fillRect/>
            </a:stretch>
          </p:blipFill>
          <p:spPr>
            <a:xfrm>
              <a:off x="5048250" y="0"/>
              <a:ext cx="7143750" cy="6858000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0" y="0"/>
              <a:ext cx="6572250" cy="6858000"/>
            </a:xfrm>
            <a:prstGeom prst="rect">
              <a:avLst/>
            </a:prstGeom>
            <a:solidFill>
              <a:schemeClr val="lt1">
                <a:alpha val="96000"/>
              </a:scheme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9600" y="878205"/>
              <a:ext cx="3797383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DebugMate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48081" y="1748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从报错到复盘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8081" y="2425065"/>
              <a:ext cx="26938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面向 AI 专业学习场景的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8081" y="2825115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多模态报错诊断与复盘智能体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57225" y="3524250"/>
              <a:ext cx="2724150" cy="9525"/>
            </a:xfrm>
            <a:custGeom>
              <a:avLst/>
              <a:gdLst/>
              <a:ahLst/>
              <a:cxnLst/>
              <a:rect l="l" t="t" r="r" b="b"/>
              <a:pathLst>
                <a:path w="2724150" h="9525">
                  <a:moveTo>
                    <a:pt x="0" y="0"/>
                  </a:moveTo>
                  <a:lnTo>
                    <a:pt x="2724150" y="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48843" y="38414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有依据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8843" y="42414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可执行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8843" y="4641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说明不确定性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57225" y="5476875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D9EEE8"/>
            </a:solidFill>
            <a:ln w="14288">
              <a:solidFill>
                <a:srgbClr val="D9EEE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13638" y="55540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《校外实训》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143125" y="5476875"/>
              <a:ext cx="971550" cy="285750"/>
            </a:xfrm>
            <a:prstGeom prst="roundRect">
              <a:avLst>
                <a:gd name="adj" fmla="val 50000"/>
              </a:avLst>
            </a:prstGeom>
            <a:solidFill>
              <a:srgbClr val="D9EEE8"/>
            </a:solidFill>
            <a:ln w="14288">
              <a:solidFill>
                <a:srgbClr val="D9EEE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451064" y="5554028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V0.1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28975" y="5476875"/>
              <a:ext cx="1314450" cy="285750"/>
            </a:xfrm>
            <a:prstGeom prst="roundRect">
              <a:avLst>
                <a:gd name="adj" fmla="val 50000"/>
              </a:avLst>
            </a:prstGeom>
            <a:solidFill>
              <a:srgbClr val="FBE5DB"/>
            </a:solidFill>
            <a:ln w="14288">
              <a:solidFill>
                <a:srgbClr val="FBE5D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27488" y="55540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本地演示版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8447" y="6552724"/>
              <a:ext cx="15149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Arial"/>
                  <a:cs typeface="Arial"/>
                </a:rPr>
                <a:t>Defense deck · 2026.09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11506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01 · PROBLEM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02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520446" y="724852"/>
            <a:ext cx="11138154" cy="6018562"/>
            <a:chOff x="520446" y="724852"/>
            <a:chExt cx="11138154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从一个真实报错开始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错误只有一行，判断下一步需要一整条证据链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676400"/>
              <a:ext cx="5810250" cy="4000500"/>
            </a:xfrm>
            <a:prstGeom prst="roundRect">
              <a:avLst>
                <a:gd name="adj" fmla="val 4286"/>
              </a:avLst>
            </a:prstGeom>
            <a:solidFill>
              <a:srgbClr val="1E2A31"/>
            </a:solidFill>
            <a:ln w="14288">
              <a:solidFill>
                <a:srgbClr val="1E2A31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850" y="2043708"/>
              <a:ext cx="5467350" cy="3075384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762000" y="5429250"/>
              <a:ext cx="1238250" cy="285750"/>
            </a:xfrm>
            <a:prstGeom prst="roundRect">
              <a:avLst>
                <a:gd name="adj" fmla="val 50000"/>
              </a:avLst>
            </a:prstGeom>
            <a:solidFill>
              <a:srgbClr val="283840"/>
            </a:solidFill>
            <a:ln w="14288">
              <a:solidFill>
                <a:srgbClr val="28384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51738" y="5506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CE5DB"/>
                  </a:solidFill>
                  <a:latin typeface="Arial"/>
                  <a:ea typeface="Microsoft YaHei"/>
                  <a:cs typeface="Arial"/>
                </a:rPr>
                <a:t>真实脱敏输入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896100" y="1676400"/>
              <a:ext cx="4762500" cy="40005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212711" y="197977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学生真正需要判断的三件事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181850" y="240030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88101" y="24965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31430" y="24574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是什么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32954" y="2756535"/>
              <a:ext cx="27421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ModuleNotFoundError 指向导入失败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181850" y="327660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88101" y="33728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31430" y="33337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发生在哪里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2954" y="3632835"/>
              <a:ext cx="2977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Windows / Python 3.13.5 / 当前解释器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181850" y="415290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88101" y="42491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31430" y="42100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下一步信什么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32954" y="450913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官方资料、检查命令与明确限制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13092" y="5140642"/>
              <a:ext cx="36431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DebugMate 的任务：让判断有证据可回看。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11506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01 · PROBLEM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03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520446" y="724852"/>
            <a:ext cx="11138154" cy="6018562"/>
            <a:chOff x="520446" y="724852"/>
            <a:chExt cx="11138154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普通问答为什么不够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4854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价值不在于“回答更多”，而在于让回答可追溯、可检查、可复盘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2000250"/>
              <a:ext cx="3333750" cy="2667000"/>
            </a:xfrm>
            <a:prstGeom prst="roundRect">
              <a:avLst>
                <a:gd name="adj" fmla="val 6429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762" y="218313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3">
                      <a:alphaMod val="35000"/>
                    </a:schemeClr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0575" y="3036094"/>
              <a:ext cx="10313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证据缺失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3623" y="350091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看似合理的安装命令，未必绑定当前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3623" y="37676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环境和官方资料。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0100" y="4286250"/>
              <a:ext cx="762000" cy="47625"/>
            </a:xfrm>
            <a:prstGeom prst="roundRect">
              <a:avLst>
                <a:gd name="adj" fmla="val 4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229100" y="2000250"/>
              <a:ext cx="3333750" cy="2667000"/>
            </a:xfrm>
            <a:prstGeom prst="roundRect">
              <a:avLst>
                <a:gd name="adj" fmla="val 6429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58462" y="218313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2">
                      <a:alphaMod val="35000"/>
                    </a:schemeClr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86275" y="3036094"/>
              <a:ext cx="128447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环境不确定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89323" y="350091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解释器、版本、路径和截图信息常常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89323" y="37676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分散在不同位置。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95800" y="4286250"/>
              <a:ext cx="762000" cy="47625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924800" y="2000250"/>
              <a:ext cx="3333750" cy="2667000"/>
            </a:xfrm>
            <a:prstGeom prst="roundRect">
              <a:avLst>
                <a:gd name="adj" fmla="val 6429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54162" y="218313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6D7BB8">
                      <a:alphaMod val="35000"/>
                    </a:srgbClr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81975" y="3036094"/>
              <a:ext cx="128447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结果难沉淀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85023" y="350091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修好一次不等于理解一次，缺少结构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85023" y="37676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化的学习记录。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191500" y="4286250"/>
              <a:ext cx="762000" cy="47625"/>
            </a:xfrm>
            <a:prstGeom prst="roundRect">
              <a:avLst>
                <a:gd name="adj" fmla="val 40000"/>
              </a:avLst>
            </a:prstGeom>
            <a:solidFill>
              <a:srgbClr val="6D7BB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5143500"/>
              <a:ext cx="11125200" cy="666750"/>
            </a:xfrm>
            <a:prstGeom prst="roundRect">
              <a:avLst>
                <a:gd name="adj" fmla="val 25714"/>
              </a:avLst>
            </a:prstGeom>
            <a:solidFill>
              <a:schemeClr val="accen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729814" y="5376386"/>
              <a:ext cx="673237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目标：把一次排错，转化为可追溯、可检查、可复盘的学习过程。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9267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01 · SCOPE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04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520446" y="724852"/>
            <a:ext cx="11138154" cy="6018562"/>
            <a:chOff x="520446" y="724852"/>
            <a:chExt cx="11138154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42424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V0.1 做什么，也不做什么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课程交付优先：闭环真实可演示，边界明确不夸大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809750"/>
              <a:ext cx="5143500" cy="3905250"/>
            </a:xfrm>
            <a:prstGeom prst="roundRect">
              <a:avLst>
                <a:gd name="adj" fmla="val 4878"/>
              </a:avLst>
            </a:prstGeom>
            <a:solidFill>
              <a:srgbClr val="E1F1EC"/>
            </a:solidFill>
            <a:ln w="14288">
              <a:solidFill>
                <a:srgbClr val="B9DDD3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134100" y="1809750"/>
              <a:ext cx="5524500" cy="3905250"/>
            </a:xfrm>
            <a:prstGeom prst="roundRect">
              <a:avLst>
                <a:gd name="adj" fmla="val 4878"/>
              </a:avLst>
            </a:prstGeom>
            <a:solidFill>
              <a:srgbClr val="FBEAE3"/>
            </a:solidFill>
            <a:ln w="14288">
              <a:solidFill>
                <a:srgbClr val="F0C4B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156" y="20916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本版本交付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67856" y="2091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明确延后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800100" y="2600325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0185" y="2656999"/>
              <a:ext cx="1484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55573" y="2643664"/>
              <a:ext cx="23232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Windows 本地浏览器真实演示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00100" y="3114675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0185" y="3171349"/>
              <a:ext cx="1484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55573" y="3158014"/>
              <a:ext cx="23219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17 个官方知识来源与检索证据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800100" y="3629025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0185" y="3685699"/>
              <a:ext cx="1484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5573" y="3672364"/>
              <a:ext cx="2106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上传前脱敏 + 用户预览确认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800100" y="4143375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0185" y="4200049"/>
              <a:ext cx="1484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55573" y="4186714"/>
              <a:ext cx="22614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同源报告 / PNG / MP3 / ZIP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800100" y="4657725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0185" y="4714399"/>
              <a:ext cx="1484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55573" y="4701064"/>
              <a:ext cx="2227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4 个代表性案例与提示词账本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00800" y="2600325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72053" y="26569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56273" y="2643664"/>
              <a:ext cx="23707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公网部署、账户、权限与 SLA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400800" y="3114675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72053" y="3171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56273" y="31580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跨平台并发和生产监控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00800" y="3629025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72053" y="36856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56273" y="3672364"/>
              <a:ext cx="2206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稳定的 Dify 浏览器端全链路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00800" y="4143375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72053" y="42000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56273" y="41867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自动执行修复命令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00800" y="4657725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72053" y="47143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–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56273" y="470106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把未验证输出扩写成成功率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10247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02 · SYSTEM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05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520446" y="724852"/>
            <a:ext cx="11157204" cy="6018562"/>
            <a:chOff x="520446" y="724852"/>
            <a:chExt cx="11157204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一次诊断的完整路径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每一步都有清晰输入与输出，最后所有产物回到同一个诊断对象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2476500"/>
              <a:ext cx="15240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657225" y="260985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1032" y="2677478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1842" y="26450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输入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566" y="2982278"/>
              <a:ext cx="1183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文本 / 代码 / 截图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105025" y="304800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247900" y="298132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457450" y="2476500"/>
              <a:ext cx="15240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581275" y="260985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35082" y="2677478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45892" y="26450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隐私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42616" y="298227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脱敏 + 预览确认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029075" y="304800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171950" y="298132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81500" y="2476500"/>
              <a:ext cx="15240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505325" y="2609850"/>
              <a:ext cx="266700" cy="266700"/>
            </a:xfrm>
            <a:prstGeom prst="ellipse">
              <a:avLst/>
            </a:prstGeom>
            <a:solidFill>
              <a:srgbClr val="6D7BB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559132" y="2677478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69942" y="26450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抽取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66666" y="298227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事实与纠错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953125" y="304800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096000" y="298132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305550" y="2476500"/>
              <a:ext cx="15240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6429375" y="260985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83182" y="2677478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93992" y="26450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90716" y="2982278"/>
              <a:ext cx="1143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官方 chunk / URL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7877175" y="304800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020050" y="298132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229600" y="2476500"/>
              <a:ext cx="15240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8353425" y="260985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07232" y="2677478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18042" y="26450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诊断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14766" y="2982278"/>
              <a:ext cx="13921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08087"/>
                  </a:solidFill>
                  <a:latin typeface="Arial"/>
                  <a:ea typeface="Arial"/>
                  <a:cs typeface="Arial"/>
                </a:rPr>
                <a:t>DiagnosisRecord 1.1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9801225" y="304800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944100" y="298132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153650" y="2476500"/>
              <a:ext cx="15240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10277475" y="2609850"/>
              <a:ext cx="266700" cy="266700"/>
            </a:xfrm>
            <a:prstGeom prst="ellipse">
              <a:avLst/>
            </a:prstGeom>
            <a:solidFill>
              <a:srgbClr val="6D7BB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331282" y="2677478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642092" y="26450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产物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338816" y="2982278"/>
              <a:ext cx="11756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报告 / PNG / MP3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4476750"/>
              <a:ext cx="11125200" cy="1000125"/>
            </a:xfrm>
            <a:prstGeom prst="roundRect">
              <a:avLst>
                <a:gd name="adj" fmla="val 17143"/>
              </a:avLst>
            </a:prstGeom>
            <a:solidFill>
              <a:schemeClr val="accen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32104" y="4728210"/>
              <a:ext cx="593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CE5DB"/>
                  </a:solidFill>
                  <a:latin typeface="Cascadia Mono"/>
                  <a:ea typeface="Cascadia Mono"/>
                  <a:cs typeface="Cascadia Mono"/>
                </a:rPr>
                <a:t>case_id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375154" y="47282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scadia Mono"/>
                  <a:ea typeface="Cascadia Mono"/>
                  <a:cs typeface="Cascadia Mono"/>
                </a:rPr>
                <a:t>→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737104" y="4728210"/>
              <a:ext cx="1482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CE5DB"/>
                  </a:solidFill>
                  <a:latin typeface="Cascadia Mono"/>
                  <a:ea typeface="Cascadia Mono"/>
                  <a:cs typeface="Cascadia Mono"/>
                </a:rPr>
                <a:t>knowledge_build_id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708904" y="47282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scadia Mono"/>
                  <a:ea typeface="Cascadia Mono"/>
                  <a:cs typeface="Cascadia Mono"/>
                </a:rPr>
                <a:t>→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108954" y="4728210"/>
              <a:ext cx="1175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CE5DB"/>
                  </a:solidFill>
                  <a:latin typeface="Cascadia Mono"/>
                  <a:ea typeface="Cascadia Mono"/>
                  <a:cs typeface="Cascadia Mono"/>
                </a:rPr>
                <a:t>diagnosis_hash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0961" y="5037296"/>
              <a:ext cx="5175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从输入到导出的身份线索贯穿同一次运行，便于回看与复核。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10247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02 · SYSTEM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06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520446" y="724852"/>
            <a:ext cx="11138154" cy="6018562"/>
            <a:chOff x="520446" y="724852"/>
            <a:chExt cx="11138154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技术路线：云端增强，本地闭环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云端负责模型能力，本地负责安全与交付；两条链路最终回到同一事实源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714500"/>
              <a:ext cx="11125200" cy="1257300"/>
            </a:xfrm>
            <a:prstGeom prst="roundRect">
              <a:avLst>
                <a:gd name="adj" fmla="val 13636"/>
              </a:avLst>
            </a:prstGeom>
            <a:solidFill>
              <a:srgbClr val="E1F1EC"/>
            </a:solidFill>
            <a:ln w="14288">
              <a:solidFill>
                <a:srgbClr val="B9DDD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9437" y="1947386"/>
              <a:ext cx="251803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01 Dify Cloud · 增强层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278856"/>
              <a:ext cx="24727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视觉理解 / 知识检索 / LLM 工作流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0" y="1943100"/>
              <a:ext cx="1866900" cy="647700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14288">
              <a:solidFill>
                <a:srgbClr val="B9DDD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754118" y="20545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视觉模型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57750" y="230457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读取文本与截图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115050" y="22669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6238875" y="220027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457950" y="1943100"/>
              <a:ext cx="1866900" cy="647700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14288">
              <a:solidFill>
                <a:srgbClr val="B9DDD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21068" y="20545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知识检索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57640" y="2304574"/>
              <a:ext cx="10675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返回 chunk + URL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382000" y="22669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505825" y="220027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724900" y="1943100"/>
              <a:ext cx="1866900" cy="647700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14288">
              <a:solidFill>
                <a:srgbClr val="B9DDD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46709" y="2054542"/>
              <a:ext cx="10232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LLM 工作流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16725" y="2304574"/>
              <a:ext cx="10832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输出结构化 JSON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43250"/>
              <a:ext cx="11125200" cy="1638300"/>
            </a:xfrm>
            <a:prstGeom prst="roundRect">
              <a:avLst>
                <a:gd name="adj" fmla="val 10465"/>
              </a:avLst>
            </a:prstGeom>
            <a:solidFill>
              <a:srgbClr val="FBEAE3"/>
            </a:solidFill>
            <a:ln w="14288">
              <a:solidFill>
                <a:srgbClr val="F0C4B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9437" y="3376136"/>
              <a:ext cx="284397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02 Local Python · 交付层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2485" y="370760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脱敏、严格校验、确定性媒体和统一结果页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333750" y="4095750"/>
              <a:ext cx="1657350" cy="51435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14288">
              <a:solidFill>
                <a:srgbClr val="F0C4B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52469" y="41852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脱敏与预览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37622" y="4408170"/>
              <a:ext cx="6496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OCR / 正则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5048250" y="4352925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153025" y="4286250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72100" y="4095750"/>
              <a:ext cx="1657350" cy="51435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14288">
              <a:solidFill>
                <a:srgbClr val="F0C4B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840225" y="4185285"/>
              <a:ext cx="721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Pydantic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53696" y="44081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严格契约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7086600" y="4352925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191375" y="4286250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410450" y="4095750"/>
              <a:ext cx="1657350" cy="51435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14288">
              <a:solidFill>
                <a:srgbClr val="F0C4B4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750489" y="4185285"/>
              <a:ext cx="9772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Pillow + TTS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86567" y="4408170"/>
              <a:ext cx="11051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08087"/>
                  </a:solidFill>
                  <a:latin typeface="Arial"/>
                  <a:ea typeface="Arial"/>
                  <a:cs typeface="Arial"/>
                </a:rPr>
                <a:t>PNG / MP3 fallback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9124950" y="4352925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229725" y="4286250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448800" y="4095750"/>
              <a:ext cx="1657350" cy="51435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14288">
              <a:solidFill>
                <a:srgbClr val="F0C4B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010266" y="4185285"/>
              <a:ext cx="5344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Gradio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969818" y="44081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结果与下载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5067300"/>
              <a:ext cx="11125200" cy="723900"/>
            </a:xfrm>
            <a:prstGeom prst="roundRect">
              <a:avLst>
                <a:gd name="adj" fmla="val 23684"/>
              </a:avLst>
            </a:prstGeom>
            <a:solidFill>
              <a:schemeClr val="accen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0199" y="5192554"/>
              <a:ext cx="189652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Git · 可复现事实源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2866" y="5487352"/>
              <a:ext cx="58052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CE5DB"/>
                  </a:solidFill>
                  <a:latin typeface="Arial"/>
                  <a:ea typeface="Microsoft YaHei"/>
                  <a:cs typeface="Arial"/>
                </a:rPr>
                <a:t>知识源 + manifest　·　Prompt V1–V4　·　Dify DSL　·　运行证据 + 哈希　·　课程材料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233660" y="52411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6C2AF"/>
                  </a:solidFill>
                  <a:latin typeface="Arial"/>
                  <a:ea typeface="Microsoft YaHei"/>
                  <a:cs typeface="Arial"/>
                </a:rPr>
                <a:t>可重建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233660" y="5479256"/>
              <a:ext cx="1098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CE5DB"/>
                  </a:solidFill>
                  <a:latin typeface="Arial"/>
                  <a:ea typeface="Microsoft YaHei"/>
                  <a:cs typeface="Arial"/>
                </a:rPr>
                <a:t>可复核 · 可交接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10247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02 · SYSTEM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07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520446" y="724852"/>
            <a:ext cx="11138154" cy="6018562"/>
            <a:chOff x="520446" y="724852"/>
            <a:chExt cx="11138154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67539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系统架构：DiagnosisRecord 是单一事实源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三种媒体不是三个答案，而是一个结构化对象的不同投影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2038350"/>
              <a:ext cx="2667000" cy="2762250"/>
            </a:xfrm>
            <a:prstGeom prst="roundRect">
              <a:avLst>
                <a:gd name="adj" fmla="val 6429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1149" y="2258854"/>
              <a:ext cx="10795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输入与证据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2292" y="2759392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error_text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2292" y="3130868"/>
              <a:ext cx="17129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code / environment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2292" y="3502342"/>
              <a:ext cx="1413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observed_facts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2292" y="3873818"/>
              <a:ext cx="15584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knowledge chunks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2292" y="4245292"/>
              <a:ext cx="12222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support_links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810000" y="1619250"/>
              <a:ext cx="4572000" cy="3619500"/>
            </a:xfrm>
            <a:prstGeom prst="roundRect">
              <a:avLst>
                <a:gd name="adj" fmla="val 6316"/>
              </a:avLst>
            </a:prstGeom>
            <a:solidFill>
              <a:schemeClr val="accen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182237" y="2023586"/>
              <a:ext cx="191595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BCE5DB"/>
                  </a:solidFill>
                  <a:latin typeface="Cascadia Mono"/>
                  <a:ea typeface="Cascadia Mono"/>
                  <a:cs typeface="Cascadia Mono"/>
                </a:rPr>
                <a:t>DiagnosisRecord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83380" y="2409825"/>
              <a:ext cx="22839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schema_version 1.1.0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191000" y="2876550"/>
              <a:ext cx="3524250" cy="266700"/>
            </a:xfrm>
            <a:prstGeom prst="roundRect">
              <a:avLst>
                <a:gd name="adj" fmla="val 28571"/>
              </a:avLst>
            </a:prstGeom>
            <a:solidFill>
              <a:srgbClr val="26384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356735" y="2945606"/>
              <a:ext cx="554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D8E5E1"/>
                  </a:solidFill>
                  <a:latin typeface="Cascadia Mono"/>
                  <a:ea typeface="Cascadia Mono"/>
                  <a:cs typeface="Cascadia Mono"/>
                </a:rPr>
                <a:t>case_id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191000" y="3238500"/>
              <a:ext cx="3524250" cy="266700"/>
            </a:xfrm>
            <a:prstGeom prst="roundRect">
              <a:avLst>
                <a:gd name="adj" fmla="val 28571"/>
              </a:avLst>
            </a:prstGeom>
            <a:solidFill>
              <a:srgbClr val="26384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356735" y="3307556"/>
              <a:ext cx="1715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D8E5E1"/>
                  </a:solidFill>
                  <a:latin typeface="Cascadia Mono"/>
                  <a:ea typeface="Cascadia Mono"/>
                  <a:cs typeface="Cascadia Mono"/>
                </a:rPr>
                <a:t>root_cause_candidates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191000" y="3600450"/>
              <a:ext cx="3524250" cy="266700"/>
            </a:xfrm>
            <a:prstGeom prst="roundRect">
              <a:avLst>
                <a:gd name="adj" fmla="val 28571"/>
              </a:avLst>
            </a:prstGeom>
            <a:solidFill>
              <a:srgbClr val="26384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56735" y="366950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D8E5E1"/>
                  </a:solidFill>
                  <a:latin typeface="Cascadia Mono"/>
                  <a:ea typeface="Cascadia Mono"/>
                  <a:cs typeface="Cascadia Mono"/>
                </a:rPr>
                <a:t>checks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191000" y="3962400"/>
              <a:ext cx="3524250" cy="266700"/>
            </a:xfrm>
            <a:prstGeom prst="roundRect">
              <a:avLst>
                <a:gd name="adj" fmla="val 28571"/>
              </a:avLst>
            </a:prstGeom>
            <a:solidFill>
              <a:srgbClr val="26384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356735" y="403145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D8E5E1"/>
                  </a:solidFill>
                  <a:latin typeface="Cascadia Mono"/>
                  <a:ea typeface="Cascadia Mono"/>
                  <a:cs typeface="Cascadia Mono"/>
                </a:rPr>
                <a:t>verification_steps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191000" y="4324350"/>
              <a:ext cx="3524250" cy="266700"/>
            </a:xfrm>
            <a:prstGeom prst="roundRect">
              <a:avLst>
                <a:gd name="adj" fmla="val 28571"/>
              </a:avLst>
            </a:prstGeom>
            <a:solidFill>
              <a:srgbClr val="26384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356735" y="439340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D8E5E1"/>
                  </a:solidFill>
                  <a:latin typeface="Cascadia Mono"/>
                  <a:ea typeface="Cascadia Mono"/>
                  <a:cs typeface="Cascadia Mono"/>
                </a:rPr>
                <a:t>limitations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991600" y="2038350"/>
              <a:ext cx="2667000" cy="2762250"/>
            </a:xfrm>
            <a:prstGeom prst="roundRect">
              <a:avLst>
                <a:gd name="adj" fmla="val 6429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69349" y="2258854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派生结果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70492" y="2759392"/>
              <a:ext cx="1546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Markdown report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70492" y="3188018"/>
              <a:ext cx="19364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Pillow diagnostic card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70492" y="3616642"/>
              <a:ext cx="9186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MP3 recap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70492" y="4045268"/>
              <a:ext cx="12870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ZIP + manifest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3257550" y="34290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3571875" y="336232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36" name="Line 36"/>
            <p:cNvSpPr/>
            <p:nvPr/>
          </p:nvSpPr>
          <p:spPr>
            <a:xfrm>
              <a:off x="8458200" y="34290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772525" y="336232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  <a:round/>
            </a:ln>
          </p:spPr>
        </p:sp>
        <p:sp>
          <p:nvSpPr>
            <p:cNvPr id="38" name="Line 38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11580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02 · EVIDENCE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08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520446" y="724852"/>
            <a:ext cx="11138154" cy="6018562"/>
            <a:chOff x="520446" y="724852"/>
            <a:chExt cx="11138154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43066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专属知识库：17 个官方来源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53748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检索不是装饰：来源、版本范围、内容哈希和构建 ID 都进入证据链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790700"/>
              <a:ext cx="2667000" cy="609600"/>
            </a:xfrm>
            <a:prstGeom prst="roundRect">
              <a:avLst>
                <a:gd name="adj" fmla="val 21875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790700"/>
              <a:ext cx="66675" cy="6096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5523" y="1910239"/>
              <a:ext cx="10183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Python 异常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152174"/>
              <a:ext cx="1085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导入 / Traceback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486150" y="1790700"/>
              <a:ext cx="2667000" cy="609600"/>
            </a:xfrm>
            <a:prstGeom prst="roundRect">
              <a:avLst>
                <a:gd name="adj" fmla="val 21875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486150" y="1790700"/>
              <a:ext cx="66675" cy="60960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708273" y="1910239"/>
              <a:ext cx="8723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pip / venv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9797" y="2152174"/>
              <a:ext cx="6893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环境 / 依赖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09850"/>
              <a:ext cx="2667000" cy="609600"/>
            </a:xfrm>
            <a:prstGeom prst="roundRect">
              <a:avLst>
                <a:gd name="adj" fmla="val 21875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09850"/>
              <a:ext cx="66675" cy="609600"/>
            </a:xfrm>
            <a:prstGeom prst="roundRect">
              <a:avLst>
                <a:gd name="adj" fmla="val 42857"/>
              </a:avLst>
            </a:prstGeom>
            <a:solidFill>
              <a:srgbClr val="6D7BB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523" y="2729389"/>
              <a:ext cx="720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PyTorch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2971324"/>
              <a:ext cx="8212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张量 / 序列化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86150" y="2609850"/>
              <a:ext cx="2667000" cy="609600"/>
            </a:xfrm>
            <a:prstGeom prst="roundRect">
              <a:avLst>
                <a:gd name="adj" fmla="val 21875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486150" y="2609850"/>
              <a:ext cx="66675" cy="6096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08273" y="2729389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CUDA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09797" y="2971324"/>
              <a:ext cx="6893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显存 / 设备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429000"/>
              <a:ext cx="2667000" cy="609600"/>
            </a:xfrm>
            <a:prstGeom prst="roundRect">
              <a:avLst>
                <a:gd name="adj" fmla="val 21875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429000"/>
              <a:ext cx="66675" cy="60960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55523" y="3548539"/>
              <a:ext cx="1127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Hugging Face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7047" y="3790474"/>
              <a:ext cx="6551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模型 / Hub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486150" y="3429000"/>
              <a:ext cx="2667000" cy="609600"/>
            </a:xfrm>
            <a:prstGeom prst="roundRect">
              <a:avLst>
                <a:gd name="adj" fmla="val 21875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486150" y="3429000"/>
              <a:ext cx="66675" cy="609600"/>
            </a:xfrm>
            <a:prstGeom prst="roundRect">
              <a:avLst>
                <a:gd name="adj" fmla="val 42857"/>
              </a:avLst>
            </a:prstGeom>
            <a:solidFill>
              <a:srgbClr val="6D7BB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708273" y="3548539"/>
              <a:ext cx="9768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Ultralytics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09797" y="3790474"/>
              <a:ext cx="6893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训练 / 预测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248150"/>
              <a:ext cx="2667000" cy="609600"/>
            </a:xfrm>
            <a:prstGeom prst="roundRect">
              <a:avLst>
                <a:gd name="adj" fmla="val 21875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248150"/>
              <a:ext cx="66675" cy="6096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5523" y="4367689"/>
              <a:ext cx="7425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Windows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7047" y="4609624"/>
              <a:ext cx="11652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Arial"/>
                  <a:cs typeface="Arial"/>
                </a:rPr>
                <a:t>PATH / PowerShell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953250" y="1790700"/>
              <a:ext cx="4705350" cy="3143250"/>
            </a:xfrm>
            <a:prstGeom prst="roundRect">
              <a:avLst>
                <a:gd name="adj" fmla="val 6061"/>
              </a:avLst>
            </a:prstGeom>
            <a:solidFill>
              <a:schemeClr val="accen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88149" y="2077879"/>
              <a:ext cx="27810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CE5DB"/>
                  </a:solidFill>
                  <a:latin typeface="Arial"/>
                  <a:ea typeface="Microsoft YaHei"/>
                  <a:cs typeface="Arial"/>
                </a:rPr>
                <a:t>一次命中，至少回答四个问题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277100" y="256222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07008" y="259842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94473" y="2586514"/>
              <a:ext cx="1515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来源 URL 是什么？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277100" y="301942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307008" y="305562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94473" y="30437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适用的版本范围是什么？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277100" y="347662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307008" y="351282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94473" y="3500914"/>
              <a:ext cx="2614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命中的 chunk / locator 在哪里？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277100" y="3933825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307008" y="397002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94473" y="3958114"/>
              <a:ext cx="28388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是否绑定当前 knowledge_build_id？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90816" y="443960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6C2AF"/>
                  </a:solidFill>
                  <a:latin typeface="Cascadia Mono"/>
                  <a:ea typeface="Cascadia Mono"/>
                  <a:cs typeface="Cascadia Mono"/>
                </a:rPr>
                <a:t>knowledge_build_id: e8e065…71ff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4686300"/>
              <a:ext cx="5619750" cy="704850"/>
            </a:xfrm>
            <a:prstGeom prst="roundRect">
              <a:avLst>
                <a:gd name="adj" fmla="val 21622"/>
              </a:avLst>
            </a:prstGeom>
            <a:solidFill>
              <a:srgbClr val="FBE5DB"/>
            </a:solidFill>
            <a:ln w="14288">
              <a:solidFill>
                <a:srgbClr val="F0C4B4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94004" y="4861560"/>
              <a:ext cx="1176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无命中 ≠ 可以猜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4385" y="5107781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证据不足时，诊断必须明确记录缺失信息。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996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02 · SAFETY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09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520446" y="724852"/>
            <a:ext cx="11138154" cy="6018562"/>
            <a:chOff x="520446" y="724852"/>
            <a:chExt cx="11138154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隐私闸门：先确认，再上传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脱敏不是后台黑盒动作，而是用户可见、可确认的交互门禁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2000250"/>
              <a:ext cx="2362200" cy="1504950"/>
            </a:xfrm>
            <a:prstGeom prst="roundRect">
              <a:avLst>
                <a:gd name="adj" fmla="val 11392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33044" y="21707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4949" y="26684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本机校验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7235" y="30218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检查输入完整性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952750" y="2752725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095625" y="2686050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314700" y="2000250"/>
              <a:ext cx="2362200" cy="1504950"/>
            </a:xfrm>
            <a:prstGeom prst="roundRect">
              <a:avLst>
                <a:gd name="adj" fmla="val 11392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514344" y="21707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16249" y="2668429"/>
              <a:ext cx="10795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发现敏感项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18535" y="3021806"/>
              <a:ext cx="8079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OCR + 正则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734050" y="2752725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876925" y="2686050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96000" y="2000250"/>
              <a:ext cx="2362200" cy="1504950"/>
            </a:xfrm>
            <a:prstGeom prst="roundRect">
              <a:avLst>
                <a:gd name="adj" fmla="val 11392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95644" y="21707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6D7BB8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97549" y="26684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生成预览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99835" y="302180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文字替换 / 像素遮挡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515350" y="2752725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9050" cap="rnd">
              <a:solidFill>
                <a:srgbClr val="6D7BB8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8658225" y="2686050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19050" cap="rnd">
              <a:solidFill>
                <a:srgbClr val="6D7BB8"/>
              </a:solidFill>
              <a:round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877300" y="2000250"/>
              <a:ext cx="2362200" cy="1504950"/>
            </a:xfrm>
            <a:prstGeom prst="roundRect">
              <a:avLst>
                <a:gd name="adj" fmla="val 11392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76944" y="21707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78849" y="26684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用户确认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1135" y="30218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确认后才允许云调用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000500"/>
              <a:ext cx="11125200" cy="1428750"/>
            </a:xfrm>
            <a:prstGeom prst="roundRect">
              <a:avLst>
                <a:gd name="adj" fmla="val 12000"/>
              </a:avLst>
            </a:prstGeom>
            <a:solidFill>
              <a:srgbClr val="1E2A31"/>
            </a:solidFill>
            <a:ln w="14288">
              <a:solidFill>
                <a:srgbClr val="1E2A3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3054" y="42329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CE5DB"/>
                  </a:solidFill>
                  <a:latin typeface="Arial"/>
                  <a:ea typeface="Microsoft YaHei"/>
                  <a:cs typeface="Arial"/>
                </a:rPr>
                <a:t>上传前审计对象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2673" y="4624864"/>
              <a:ext cx="71831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Token / 密码 邮箱 / 用户名 Windows / Linux 绝对路径 截图敏感像素 日志与导出物二次泄漏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2673" y="505348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6C2AF"/>
                  </a:solidFill>
                  <a:latin typeface="Arial"/>
                  <a:ea typeface="Microsoft YaHei"/>
                  <a:cs typeface="Arial"/>
                </a:rPr>
                <a:t>用户能看到脱敏结果，系统才有资格继续。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10526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03 · PROMPT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10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416321" y="724852"/>
            <a:ext cx="11242279" cy="6018562"/>
            <a:chOff x="416321" y="724852"/>
            <a:chExt cx="11242279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43376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V1–V4：从能回答到可派生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提示词优化的终点不是更长，而是证据、结构和多模态输出保持一致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52500" y="3429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38100">
              <a:solidFill>
                <a:srgbClr val="C5D2CC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914400" y="320040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63457" y="3391852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ascadia Mono"/>
                  <a:ea typeface="Cascadia Mono"/>
                  <a:cs typeface="Cascadia Mono"/>
                </a:rPr>
                <a:t>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0748" y="25679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V1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6270" y="3895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基础诊断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6321" y="424100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类别 / 原因 / 步骤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81025" y="4762500"/>
              <a:ext cx="1123950" cy="285750"/>
            </a:xfrm>
            <a:prstGeom prst="roundRect">
              <a:avLst>
                <a:gd name="adj" fmla="val 50000"/>
              </a:avLst>
            </a:prstGeom>
            <a:solidFill>
              <a:srgbClr val="FBE5DB"/>
            </a:solidFill>
            <a:ln w="14288">
              <a:solidFill>
                <a:srgbClr val="FBE5D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5639" y="48396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能回答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3581400" y="32004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30457" y="3391852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ascadia Mono"/>
                  <a:ea typeface="Cascadia Mono"/>
                  <a:cs typeface="Cascadia Mono"/>
                </a:rPr>
                <a:t>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57748" y="25679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Cascadia Mono"/>
                  <a:ea typeface="Cascadia Mono"/>
                  <a:cs typeface="Cascadia Mono"/>
                </a:rPr>
                <a:t>V2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03270" y="3895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引用约束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32547" y="4241006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事实 / 推断 / 缺失信息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248025" y="4762500"/>
              <a:ext cx="1123950" cy="285750"/>
            </a:xfrm>
            <a:prstGeom prst="roundRect">
              <a:avLst>
                <a:gd name="adj" fmla="val 50000"/>
              </a:avLst>
            </a:prstGeom>
            <a:solidFill>
              <a:srgbClr val="E1F1EC"/>
            </a:solidFill>
            <a:ln w="14288">
              <a:solidFill>
                <a:srgbClr val="E1F1E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592640" y="48396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有依据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248400" y="3200400"/>
              <a:ext cx="457200" cy="457200"/>
            </a:xfrm>
            <a:prstGeom prst="ellipse">
              <a:avLst/>
            </a:prstGeom>
            <a:solidFill>
              <a:srgbClr val="6D7BB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97457" y="3391852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ascadia Mono"/>
                  <a:ea typeface="Cascadia Mono"/>
                  <a:cs typeface="Cascadia Mono"/>
                </a:rPr>
                <a:t>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24748" y="25679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6D7BB8"/>
                  </a:solidFill>
                  <a:latin typeface="Cascadia Mono"/>
                  <a:ea typeface="Cascadia Mono"/>
                  <a:cs typeface="Cascadia Mono"/>
                </a:rPr>
                <a:t>V3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70270" y="3895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结构可靠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99547" y="4241006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命令影响 / 预期 / 回退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915025" y="4762500"/>
              <a:ext cx="1123950" cy="285750"/>
            </a:xfrm>
            <a:prstGeom prst="roundRect">
              <a:avLst>
                <a:gd name="adj" fmla="val 50000"/>
              </a:avLst>
            </a:prstGeom>
            <a:solidFill>
              <a:srgbClr val="FBE5DB"/>
            </a:solidFill>
            <a:ln w="14288">
              <a:solidFill>
                <a:srgbClr val="FBE5D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59640" y="48396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可校验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8915400" y="320040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64457" y="3391852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ascadia Mono"/>
                  <a:ea typeface="Cascadia Mono"/>
                  <a:cs typeface="Cascadia Mono"/>
                </a:rPr>
                <a:t>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91748" y="25679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V4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37270" y="3895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课程定稿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36042" y="4241006"/>
              <a:ext cx="1825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recap → 报告 / PNG / MP3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582025" y="4762500"/>
              <a:ext cx="1123950" cy="285750"/>
            </a:xfrm>
            <a:prstGeom prst="roundRect">
              <a:avLst>
                <a:gd name="adj" fmla="val 50000"/>
              </a:avLst>
            </a:prstGeom>
            <a:solidFill>
              <a:srgbClr val="FBE5DB"/>
            </a:solidFill>
            <a:ln w="14288">
              <a:solidFill>
                <a:srgbClr val="FBE5D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926640" y="48396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可派生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429250"/>
              <a:ext cx="11125200" cy="438150"/>
            </a:xfrm>
            <a:prstGeom prst="roundRect">
              <a:avLst>
                <a:gd name="adj" fmla="val 30435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250244" y="5584031"/>
              <a:ext cx="56915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V1 有固定案例 manifest；V2–V4 的采用、限制与未验证范围保留在版本化账本中。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9546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03 · PROOF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11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520446" y="724852"/>
            <a:ext cx="11320577" cy="6018562"/>
            <a:chOff x="520446" y="724852"/>
            <a:chExt cx="11320577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一次完整诊断的真实结果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55750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真实 Microsoft Edge 截图：输入、证据、诊断和下载处在同一个工作台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638300"/>
              <a:ext cx="8763000" cy="4095750"/>
            </a:xfrm>
            <a:prstGeom prst="roundRect">
              <a:avLst>
                <a:gd name="adj" fmla="val 4186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8974" y="1771650"/>
              <a:ext cx="4811851" cy="3829050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9620250" y="1809750"/>
              <a:ext cx="2038350" cy="3524250"/>
            </a:xfrm>
            <a:prstGeom prst="roundRect">
              <a:avLst>
                <a:gd name="adj" fmla="val 8411"/>
              </a:avLst>
            </a:prstGeom>
            <a:solidFill>
              <a:schemeClr val="accen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79330" y="20764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CE5DB"/>
                  </a:solidFill>
                  <a:latin typeface="Arial"/>
                  <a:ea typeface="Microsoft YaHei"/>
                  <a:cs typeface="Arial"/>
                </a:rPr>
                <a:t>三处关键证据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9810750" y="2619375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86969" y="26841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47554" y="2670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脱敏输入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9810750" y="333375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86969" y="33985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147554" y="33851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事实与引用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9810750" y="4048125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86969" y="41128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47554" y="4099560"/>
              <a:ext cx="16934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报告 / 卡 / 音频 / ZIP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81616" y="45729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6C2AF"/>
                  </a:solidFill>
                  <a:latin typeface="Arial"/>
                  <a:ea typeface="Microsoft YaHei"/>
                  <a:cs typeface="Arial"/>
                </a:rPr>
                <a:t>截图标记：离线回放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81616" y="48396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8E5E1"/>
                  </a:solidFill>
                  <a:latin typeface="Arial"/>
                  <a:ea typeface="Microsoft YaHei"/>
                  <a:cs typeface="Arial"/>
                </a:rPr>
                <a:t>不把回放称为实时云端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9546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03 · PROOF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12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520446" y="724852"/>
            <a:ext cx="11138154" cy="6018562"/>
            <a:chOff x="520446" y="724852"/>
            <a:chExt cx="11138154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三种输出，共享一个身份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4587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同一份 DiagnosisRecord 派生出文字、图像、语音与证据包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2114550"/>
              <a:ext cx="2857500" cy="2476500"/>
            </a:xfrm>
            <a:prstGeom prst="roundRect">
              <a:avLst>
                <a:gd name="adj" fmla="val 6923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199" y="24017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文字报告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723" y="2853214"/>
              <a:ext cx="900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事实 / 推断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723" y="31770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缺失信息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723" y="35009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检查与验证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723" y="382476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置信度与局限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667250" y="1733550"/>
              <a:ext cx="2857500" cy="3238500"/>
            </a:xfrm>
            <a:prstGeom prst="roundRect">
              <a:avLst>
                <a:gd name="adj" fmla="val 8000"/>
              </a:avLst>
            </a:prstGeom>
            <a:solidFill>
              <a:schemeClr val="accen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93281" y="2143125"/>
              <a:ext cx="16054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BCE5DB"/>
                  </a:solidFill>
                  <a:latin typeface="Cascadia Mono"/>
                  <a:ea typeface="Cascadia Mono"/>
                  <a:cs typeface="Cascadia Mono"/>
                </a:rPr>
                <a:t>shared identity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89398" y="2738914"/>
              <a:ext cx="633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ascadia Mono"/>
                  <a:ea typeface="Cascadia Mono"/>
                  <a:cs typeface="Cascadia Mono"/>
                </a:rPr>
                <a:t>case_id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89398" y="3177064"/>
              <a:ext cx="12019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ascadia Mono"/>
                  <a:ea typeface="Cascadia Mono"/>
                  <a:cs typeface="Cascadia Mono"/>
                </a:rPr>
                <a:t>source_run_id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89398" y="3615214"/>
              <a:ext cx="12536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ascadia Mono"/>
                  <a:ea typeface="Cascadia Mono"/>
                  <a:cs typeface="Cascadia Mono"/>
                </a:rPr>
                <a:t>diagnosis_hash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89398" y="4053364"/>
              <a:ext cx="13311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ascadia Mono"/>
                  <a:ea typeface="Cascadia Mono"/>
                  <a:cs typeface="Cascadia Mono"/>
                </a:rPr>
                <a:t>schema_version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801100" y="2114550"/>
              <a:ext cx="2857500" cy="2476500"/>
            </a:xfrm>
            <a:prstGeom prst="roundRect">
              <a:avLst>
                <a:gd name="adj" fmla="val 6923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97899" y="2401729"/>
              <a:ext cx="171503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Arial"/>
                  <a:ea typeface="Arial"/>
                  <a:cs typeface="Arial"/>
                </a:rPr>
                <a:t>PNG / MP3 / ZIP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9423" y="2853214"/>
              <a:ext cx="15871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Pillow 确定性诊断卡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99423" y="321516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同一 recap_text 生成语音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99423" y="3577114"/>
              <a:ext cx="20513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manifest + SHA-256 校验</a:t>
              </a:r>
            </a:p>
          </p:txBody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18087" y="4038600"/>
              <a:ext cx="566377" cy="723900"/>
            </a:xfrm>
            <a:prstGeom prst="rect">
              <a:avLst/>
            </a:prstGeom>
          </p:spPr>
        </p:pic>
        <p:sp>
          <p:nvSpPr>
            <p:cNvPr id="26" name="Line 26"/>
            <p:cNvSpPr/>
            <p:nvPr/>
          </p:nvSpPr>
          <p:spPr>
            <a:xfrm>
              <a:off x="3476625" y="3333750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5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371975" y="326707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28" name="Line 28"/>
            <p:cNvSpPr/>
            <p:nvPr/>
          </p:nvSpPr>
          <p:spPr>
            <a:xfrm>
              <a:off x="7677150" y="3333750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5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572500" y="326707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  <a:round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5334000"/>
              <a:ext cx="11125200" cy="457200"/>
            </a:xfrm>
            <a:prstGeom prst="roundRect">
              <a:avLst>
                <a:gd name="adj" fmla="val 29167"/>
              </a:avLst>
            </a:prstGeom>
            <a:solidFill>
              <a:srgbClr val="D9EEE8"/>
            </a:solidFill>
            <a:ln w="14288">
              <a:solidFill>
                <a:srgbClr val="D9EEE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899848" y="5491639"/>
              <a:ext cx="43923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同源 ≠ 同格式；同源 = 同一身份、同一事实、同一限制。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11227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03 · HONESTY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13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520446" y="724852"/>
            <a:ext cx="11138154" cy="6018562"/>
            <a:chOff x="520446" y="724852"/>
            <a:chExt cx="11138154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失败也要诚实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外部节点失败时保留真实失败记录，只重试失败的产物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714500"/>
              <a:ext cx="4191000" cy="3905250"/>
            </a:xfrm>
            <a:prstGeom prst="roundRect">
              <a:avLst>
                <a:gd name="adj" fmla="val 4390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2733" y="1847850"/>
              <a:ext cx="2972333" cy="2952750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781050" y="4972050"/>
              <a:ext cx="1562100" cy="285750"/>
            </a:xfrm>
            <a:prstGeom prst="roundRect">
              <a:avLst>
                <a:gd name="adj" fmla="val 50000"/>
              </a:avLst>
            </a:prstGeom>
            <a:solidFill>
              <a:srgbClr val="FBE5DB"/>
            </a:solidFill>
            <a:ln w="14288">
              <a:solidFill>
                <a:srgbClr val="FBE5D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2634" y="5049202"/>
              <a:ext cx="14789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TTS failed → 重试语音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001000" y="1714500"/>
              <a:ext cx="3657600" cy="3905250"/>
            </a:xfrm>
            <a:prstGeom prst="roundRect">
              <a:avLst>
                <a:gd name="adj" fmla="val 4688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43633" y="1847850"/>
              <a:ext cx="2972333" cy="2952750"/>
            </a:xfrm>
            <a:prstGeom prst="rect">
              <a:avLst/>
            </a:prstGeom>
          </p:spPr>
        </p:pic>
        <p:sp>
          <p:nvSpPr>
            <p:cNvPr id="14" name="Rectangle 14"/>
            <p:cNvSpPr/>
            <p:nvPr/>
          </p:nvSpPr>
          <p:spPr>
            <a:xfrm>
              <a:off x="8248650" y="4972050"/>
              <a:ext cx="1790700" cy="285750"/>
            </a:xfrm>
            <a:prstGeom prst="roundRect">
              <a:avLst>
                <a:gd name="adj" fmla="val 50000"/>
              </a:avLst>
            </a:prstGeom>
            <a:solidFill>
              <a:srgbClr val="E1F1EC"/>
            </a:solidFill>
            <a:ln w="14288">
              <a:solidFill>
                <a:srgbClr val="E1F1E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32525" y="5049202"/>
              <a:ext cx="1622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PNG failed → 重试诊断卡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143500" y="2286000"/>
              <a:ext cx="2190750" cy="2857500"/>
            </a:xfrm>
            <a:prstGeom prst="roundRect">
              <a:avLst>
                <a:gd name="adj" fmla="val 7826"/>
              </a:avLst>
            </a:prstGeom>
            <a:solidFill>
              <a:schemeClr val="accen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49315" y="25512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CE5DB"/>
                  </a:solidFill>
                  <a:latin typeface="Arial"/>
                  <a:ea typeface="Microsoft YaHei"/>
                  <a:cs typeface="Arial"/>
                </a:rPr>
                <a:t>最小重试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80304" y="31089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保留已完成结果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80304" y="35090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记录失败节点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80304" y="39090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给出可重试范围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80304" y="4309110"/>
              <a:ext cx="1619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不伪装 cloud success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4781550" y="363855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924425" y="357187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24" name="Line 24"/>
            <p:cNvSpPr/>
            <p:nvPr/>
          </p:nvSpPr>
          <p:spPr>
            <a:xfrm>
              <a:off x="7410450" y="363855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781925" y="357187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7304" y="5852160"/>
              <a:ext cx="84121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当前边界：Dify 浏览器端曾出现 timeout / 旧契约响应；正式材料保留限制，并明确使用 local fallback 或 replay。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13819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04 · EVALUATION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14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520446" y="724852"/>
            <a:ext cx="11138154" cy="6018562"/>
            <a:chOff x="520446" y="724852"/>
            <a:chExt cx="11138154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评测与自动验证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以可复算证据作为完成标准，而不是以虚构成功率作为完成标准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714500"/>
              <a:ext cx="5715000" cy="3810000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14288">
              <a:solidFill>
                <a:srgbClr val="C5D2C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1149" y="1982629"/>
              <a:ext cx="25714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Phase 9 · 4 个代表性案例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104" y="253746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C01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22273" y="25293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依赖缺失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28416" y="2553652"/>
              <a:ext cx="12757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08087"/>
                  </a:solidFill>
                  <a:latin typeface="Cascadia Mono"/>
                  <a:ea typeface="Cascadia Mono"/>
                  <a:cs typeface="Cascadia Mono"/>
                </a:rPr>
                <a:t>blocked / real_live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838200" y="2838450"/>
              <a:ext cx="4895850" cy="9525"/>
            </a:xfrm>
            <a:custGeom>
              <a:avLst/>
              <a:gdLst/>
              <a:ahLst/>
              <a:cxnLst/>
              <a:rect l="l" t="t" r="r" b="b"/>
              <a:pathLst>
                <a:path w="4895850" h="9525">
                  <a:moveTo>
                    <a:pt x="0" y="0"/>
                  </a:moveTo>
                  <a:lnTo>
                    <a:pt x="489585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2104" y="313753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D7BB8"/>
                  </a:solidFill>
                  <a:latin typeface="Cascadia Mono"/>
                  <a:ea typeface="Cascadia Mono"/>
                  <a:cs typeface="Cascadia Mono"/>
                </a:rPr>
                <a:t>C02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2273" y="31294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信息不足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28416" y="3153728"/>
              <a:ext cx="1226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08087"/>
                  </a:solidFill>
                  <a:latin typeface="Cascadia Mono"/>
                  <a:ea typeface="Cascadia Mono"/>
                  <a:cs typeface="Cascadia Mono"/>
                </a:rPr>
                <a:t>insufficient_data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38200" y="3438525"/>
              <a:ext cx="4895850" cy="9525"/>
            </a:xfrm>
            <a:custGeom>
              <a:avLst/>
              <a:gdLst/>
              <a:ahLst/>
              <a:cxnLst/>
              <a:rect l="l" t="t" r="r" b="b"/>
              <a:pathLst>
                <a:path w="4895850" h="9525">
                  <a:moveTo>
                    <a:pt x="0" y="0"/>
                  </a:moveTo>
                  <a:lnTo>
                    <a:pt x="489585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2104" y="373761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Cascadia Mono"/>
                  <a:ea typeface="Cascadia Mono"/>
                  <a:cs typeface="Cascadia Mono"/>
                </a:rPr>
                <a:t>C03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22273" y="3729514"/>
              <a:ext cx="1136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长文本 replay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28416" y="3753802"/>
              <a:ext cx="11132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08087"/>
                  </a:solidFill>
                  <a:latin typeface="Cascadia Mono"/>
                  <a:ea typeface="Cascadia Mono"/>
                  <a:cs typeface="Cascadia Mono"/>
                </a:rPr>
                <a:t>blocked / replay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38200" y="4038600"/>
              <a:ext cx="4895850" cy="9525"/>
            </a:xfrm>
            <a:custGeom>
              <a:avLst/>
              <a:gdLst/>
              <a:ahLst/>
              <a:cxnLst/>
              <a:rect l="l" t="t" r="r" b="b"/>
              <a:pathLst>
                <a:path w="4895850" h="9525">
                  <a:moveTo>
                    <a:pt x="0" y="0"/>
                  </a:moveTo>
                  <a:lnTo>
                    <a:pt x="489585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2104" y="433768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Cascadia Mono"/>
                  <a:ea typeface="Cascadia Mono"/>
                  <a:cs typeface="Cascadia Mono"/>
                </a:rPr>
                <a:t>C04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22273" y="4329589"/>
              <a:ext cx="13789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fallback partial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28416" y="43538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08087"/>
                  </a:solidFill>
                  <a:latin typeface="Cascadia Mono"/>
                  <a:ea typeface="Cascadia Mono"/>
                  <a:cs typeface="Cascadia Mono"/>
                </a:rPr>
                <a:t>partial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38200" y="4638675"/>
              <a:ext cx="4895850" cy="9525"/>
            </a:xfrm>
            <a:custGeom>
              <a:avLst/>
              <a:gdLst/>
              <a:ahLst/>
              <a:cxnLst/>
              <a:rect l="l" t="t" r="r" b="b"/>
              <a:pathLst>
                <a:path w="4895850" h="9525">
                  <a:moveTo>
                    <a:pt x="0" y="0"/>
                  </a:moveTo>
                  <a:lnTo>
                    <a:pt x="489585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705600" y="1714500"/>
              <a:ext cx="4953000" cy="3810000"/>
            </a:xfrm>
            <a:prstGeom prst="roundRect">
              <a:avLst>
                <a:gd name="adj" fmla="val 4500"/>
              </a:avLst>
            </a:prstGeom>
            <a:solidFill>
              <a:schemeClr val="accen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40499" y="1982629"/>
              <a:ext cx="12922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CE5DB"/>
                  </a:solidFill>
                  <a:latin typeface="Arial"/>
                  <a:ea typeface="Microsoft YaHei"/>
                  <a:cs typeface="Arial"/>
                </a:rPr>
                <a:t>自动验证结果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85660" y="2533650"/>
              <a:ext cx="96339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BCE5DB"/>
                  </a:solidFill>
                  <a:latin typeface="Consolas"/>
                  <a:ea typeface="Consolas"/>
                  <a:cs typeface="Consolas"/>
                </a:rPr>
                <a:t>1177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95566" y="3029902"/>
              <a:ext cx="17775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offline regression passed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81160" y="2533650"/>
              <a:ext cx="73016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BCE5DB"/>
                  </a:solidFill>
                  <a:latin typeface="Consolas"/>
                  <a:ea typeface="Consolas"/>
                  <a:cs typeface="Consolas"/>
                </a:rPr>
                <a:t>113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91066" y="3029902"/>
              <a:ext cx="14595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privacy tests passed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85660" y="3724275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6C2A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95566" y="4220528"/>
              <a:ext cx="18906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cloud contract test passed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81160" y="3724275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6C2AF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91066" y="4220528"/>
              <a:ext cx="16339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Phase 10 eligible source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43166" y="5125402"/>
              <a:ext cx="36221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6C2AF"/>
                  </a:solidFill>
                  <a:latin typeface="Arial"/>
                  <a:ea typeface="Microsoft YaHei"/>
                  <a:cs typeface="Arial"/>
                </a:rPr>
                <a:t>0 eligible 表示保持诚实，不把阻塞案例扩写进课程证据。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8447" y="6552724"/>
              <a:ext cx="2377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V0.1 · 可追溯诊断工作流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8447" y="266224"/>
            <a:ext cx="11062713" cy="286226"/>
            <a:chOff x="528447" y="266224"/>
            <a:chExt cx="11062713" cy="286226"/>
          </a:xfrm>
        </p:grpSpPr>
        <p:sp>
          <p:nvSpPr>
            <p:cNvPr id="2" name="TextBox 2"/>
            <p:cNvSpPr txBox="1"/>
            <p:nvPr/>
          </p:nvSpPr>
          <p:spPr>
            <a:xfrm>
              <a:off x="528447" y="266224"/>
              <a:ext cx="9267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05 · CLOSE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39297" y="26622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Consolas"/>
                  <a:ea typeface="Consolas"/>
                  <a:cs typeface="Consolas"/>
                </a:rPr>
                <a:t>15 /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514350"/>
              <a:ext cx="304800" cy="381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418262" y="724852"/>
            <a:ext cx="11240338" cy="6018562"/>
            <a:chOff x="418262" y="724852"/>
            <a:chExt cx="11240338" cy="6018562"/>
          </a:xfrm>
        </p:grpSpPr>
        <p:sp>
          <p:nvSpPr>
            <p:cNvPr id="6" name="TextBox 6"/>
            <p:cNvSpPr txBox="1"/>
            <p:nvPr/>
          </p:nvSpPr>
          <p:spPr>
            <a:xfrm>
              <a:off x="520446" y="724852"/>
              <a:ext cx="56248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总结：把“修好一次”变成“理解一次”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5973" y="1167289"/>
              <a:ext cx="42099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V0.1 已形成课程可提交的多模态诊断闭环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52450" y="28194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7509" y="30818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报错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8262" y="37361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真实或可复现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276350" y="314325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562225" y="307657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13" name="Ellipse 13"/>
            <p:cNvSpPr/>
            <p:nvPr/>
          </p:nvSpPr>
          <p:spPr>
            <a:xfrm>
              <a:off x="2667000" y="28194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812059" y="30818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隐私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32812" y="37361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先预览再确认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390900" y="314325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676775" y="307657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18" name="Ellipse 18"/>
            <p:cNvSpPr/>
            <p:nvPr/>
          </p:nvSpPr>
          <p:spPr>
            <a:xfrm>
              <a:off x="4781550" y="2819400"/>
              <a:ext cx="647700" cy="647700"/>
            </a:xfrm>
            <a:prstGeom prst="ellipse">
              <a:avLst/>
            </a:prstGeom>
            <a:solidFill>
              <a:srgbClr val="6D7BB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926609" y="30818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71975" y="37361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官方来源可追溯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505450" y="314325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791325" y="307657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23" name="Ellipse 23"/>
            <p:cNvSpPr/>
            <p:nvPr/>
          </p:nvSpPr>
          <p:spPr>
            <a:xfrm>
              <a:off x="6896100" y="28194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41159" y="30818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诊断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86525" y="37361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结构化且有边界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7620000" y="314325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905875" y="307657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>
                  <a:moveTo>
                    <a:pt x="0" y="0"/>
                  </a:moveTo>
                  <a:lnTo>
                    <a:pt x="142875" y="66675"/>
                  </a:ln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28" name="Ellipse 28"/>
            <p:cNvSpPr/>
            <p:nvPr/>
          </p:nvSpPr>
          <p:spPr>
            <a:xfrm>
              <a:off x="9010650" y="28194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155709" y="30818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复盘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04362" y="3736181"/>
              <a:ext cx="16602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报告 / PNG / MP3 / ZIP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762500"/>
              <a:ext cx="11125200" cy="838200"/>
            </a:xfrm>
            <a:prstGeom prst="roundRect">
              <a:avLst>
                <a:gd name="adj" fmla="val 20455"/>
              </a:avLst>
            </a:prstGeom>
            <a:solidFill>
              <a:schemeClr val="accen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1723" y="49868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D8E5E1"/>
                  </a:solidFill>
                  <a:latin typeface="Arial"/>
                  <a:ea typeface="Microsoft YaHei"/>
                  <a:cs typeface="Arial"/>
                </a:rPr>
                <a:t>现场演示顺序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1342" y="5245418"/>
              <a:ext cx="52531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脱敏预览 → 用户确认 → 诊断与引用 → 三模态产物 → 失败降级说明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6923" y="5910739"/>
              <a:ext cx="61387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云端 live、本地 fallback、固定 replay：三者都可以演示，但必须被准确命名。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533400" y="6429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5D2CC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8447" y="6552724"/>
              <a:ext cx="16530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08087"/>
                  </a:solidFill>
                  <a:latin typeface="Arial"/>
                  <a:ea typeface="Microsoft YaHei"/>
                  <a:cs typeface="Arial"/>
                </a:rPr>
                <a:t>DebugMate · 课程答辩收束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ebugmate-defense-ppt">
  <a:themeElements>
    <a:clrScheme name="debugmate-defense-ppt">
      <a:dk1>
        <a:srgbClr val="33424D"/>
      </a:dk1>
      <a:lt1>
        <a:srgbClr val="F7F5EF"/>
      </a:lt1>
      <a:dk2>
        <a:srgbClr val="33424D"/>
      </a:dk2>
      <a:lt2>
        <a:srgbClr val="F7F5EF"/>
      </a:lt2>
      <a:accent1>
        <a:srgbClr val="14212B"/>
      </a:accent1>
      <a:accent2>
        <a:srgbClr val="0F9D8A"/>
      </a:accent2>
      <a:accent3>
        <a:srgbClr val="F0784A"/>
      </a:accent3>
      <a:accent4>
        <a:srgbClr val="14212B"/>
      </a:accent4>
      <a:accent5>
        <a:srgbClr val="4BACC6"/>
      </a:accent5>
      <a:accent6>
        <a:srgbClr val="F79646"/>
      </a:accent6>
      <a:hlink>
        <a:srgbClr val="0F9D8A"/>
      </a:hlink>
      <a:folHlink>
        <a:srgbClr val="F0784A"/>
      </a:folHlink>
    </a:clrScheme>
    <a:fontScheme name="debugmate-defense-ppt">
      <a:majorFont>
        <a:latin typeface="Aptos Display"/>
        <a:ea typeface="Microsoft YaHei"/>
        <a:cs typeface="Aptos Display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Microsoft YaHei"/>
        <a:cs typeface="Apto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bugmate-defense-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2026-09-01T01:18:53Z</dcterms:created>
  <dcterms:modified xsi:type="dcterms:W3CDTF">2026-09-01T01:18:53Z</dcterms:modified>
  <cp:category/>
  <cp:contentStatus/>
</cp:coreProperties>
</file>