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debugmate-defense-ppt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debugmate-defense-ppt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25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65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55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45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2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1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95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65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55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1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95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9e5e22d6d56e24cb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3989af7ccc015c36.png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2c826b40123418f9.png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c0d929f03eecfee4.png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ba24d724188073f9.png"/>
  <Relationship Id="rId3" Type="http://schemas.openxmlformats.org/officeDocument/2006/relationships/image" Target="../media/image_801cc5765744eee1.png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28447" y="266224"/>
            <a:ext cx="11062713" cy="286226"/>
            <a:chOff x="528447" y="266224"/>
            <a:chExt cx="11062713" cy="286226"/>
          </a:xfrm>
        </p:grpSpPr>
        <p:sp>
          <p:nvSpPr>
            <p:cNvPr id="2" name="TextBox 2"/>
            <p:cNvSpPr txBox="1"/>
            <p:nvPr/>
          </p:nvSpPr>
          <p:spPr>
            <a:xfrm>
              <a:off x="528447" y="266224"/>
              <a:ext cx="112976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spc="150" dirty="0">
                  <a:solidFill>
                    <a:schemeClr val="accent2"/>
                  </a:solidFill>
                  <a:latin typeface="Arial"/>
                  <a:ea typeface="Arial"/>
                  <a:cs typeface="Arial"/>
                </a:rPr>
                <a:t>DEFENSE DECK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1139297" y="266224"/>
              <a:ext cx="4518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08087"/>
                  </a:solidFill>
                  <a:latin typeface="Consolas"/>
                  <a:ea typeface="Consolas"/>
                  <a:cs typeface="Consolas"/>
                </a:rPr>
                <a:t>01 / 15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33400" y="514350"/>
              <a:ext cx="304800" cy="381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</p:grpSp>
      <p:grpSp>
        <p:nvGrpSpPr>
          <p:cNvPr id="24" name="Group 2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2"/>
            <a:srcRect l="20688" t="0" r="20687" b="0"/>
            <a:stretch>
              <a:fillRect/>
            </a:stretch>
          </p:blipFill>
          <p:spPr>
            <a:xfrm>
              <a:off x="5048250" y="0"/>
              <a:ext cx="7143750" cy="6858000"/>
            </a:xfrm>
            <a:prstGeom prst="rect">
              <a:avLst/>
            </a:prstGeom>
          </p:spPr>
        </p:pic>
        <p:sp>
          <p:nvSpPr>
            <p:cNvPr id="7" name="Rectangle 7"/>
            <p:cNvSpPr/>
            <p:nvPr/>
          </p:nvSpPr>
          <p:spPr>
            <a:xfrm>
              <a:off x="0" y="0"/>
              <a:ext cx="6572250" cy="6858000"/>
            </a:xfrm>
            <a:prstGeom prst="rect">
              <a:avLst/>
            </a:prstGeom>
            <a:solidFill>
              <a:schemeClr val="lt1">
                <a:alpha val="96000"/>
              </a:schemeClr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09600" y="878205"/>
              <a:ext cx="3797383" cy="990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100" b="1" dirty="0">
                  <a:solidFill>
                    <a:schemeClr val="accent1"/>
                  </a:solidFill>
                  <a:latin typeface="Arial"/>
                  <a:ea typeface="Arial"/>
                  <a:cs typeface="Arial"/>
                </a:rPr>
                <a:t>DebugMate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48081" y="174879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Arial"/>
                  <a:ea typeface="Microsoft YaHei"/>
                  <a:cs typeface="Arial"/>
                </a:rPr>
                <a:t>从报错到复盘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48081" y="2425065"/>
              <a:ext cx="269382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面向 AI 专业学习场景的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48081" y="2825115"/>
              <a:ext cx="31683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多模态报错诊断与复盘智能体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657225" y="3524250"/>
              <a:ext cx="2724150" cy="9525"/>
            </a:xfrm>
            <a:custGeom>
              <a:avLst/>
              <a:gdLst/>
              <a:ahLst/>
              <a:cxnLst/>
              <a:rect l="l" t="t" r="r" b="b"/>
              <a:pathLst>
                <a:path w="2724150" h="9525">
                  <a:moveTo>
                    <a:pt x="0" y="0"/>
                  </a:moveTo>
                  <a:lnTo>
                    <a:pt x="2724150" y="0"/>
                  </a:lnTo>
                </a:path>
              </a:pathLst>
            </a:custGeom>
            <a:noFill/>
            <a:ln w="47625">
              <a:solidFill>
                <a:schemeClr val="accent3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48843" y="384143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Arial"/>
                  <a:ea typeface="Microsoft YaHei"/>
                  <a:cs typeface="Arial"/>
                </a:rPr>
                <a:t>有依据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48843" y="424148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Arial"/>
                  <a:ea typeface="Microsoft YaHei"/>
                  <a:cs typeface="Arial"/>
                </a:rPr>
                <a:t>可执行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48843" y="464153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Arial"/>
                  <a:ea typeface="Microsoft YaHei"/>
                  <a:cs typeface="Arial"/>
                </a:rPr>
                <a:t>说明不确定性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657225" y="5476875"/>
              <a:ext cx="1371600" cy="285750"/>
            </a:xfrm>
            <a:prstGeom prst="roundRect">
              <a:avLst>
                <a:gd name="adj" fmla="val 50000"/>
              </a:avLst>
            </a:prstGeom>
            <a:solidFill>
              <a:srgbClr val="D9EEE8"/>
            </a:solidFill>
            <a:ln w="14288">
              <a:solidFill>
                <a:srgbClr val="D9EEE8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13638" y="5554028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chemeClr val="accent2"/>
                  </a:solidFill>
                  <a:latin typeface="Arial"/>
                  <a:ea typeface="Microsoft YaHei"/>
                  <a:cs typeface="Arial"/>
                </a:rPr>
                <a:t>《校外实训》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2143125" y="5476875"/>
              <a:ext cx="971550" cy="285750"/>
            </a:xfrm>
            <a:prstGeom prst="roundRect">
              <a:avLst>
                <a:gd name="adj" fmla="val 50000"/>
              </a:avLst>
            </a:prstGeom>
            <a:solidFill>
              <a:srgbClr val="D9EEE8"/>
            </a:solidFill>
            <a:ln w="14288">
              <a:solidFill>
                <a:srgbClr val="D9EEE8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2451064" y="5554028"/>
              <a:ext cx="3556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chemeClr val="accent2"/>
                  </a:solidFill>
                  <a:latin typeface="Arial"/>
                  <a:ea typeface="Arial"/>
                  <a:cs typeface="Arial"/>
                </a:rPr>
                <a:t>V0.1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3228975" y="5476875"/>
              <a:ext cx="1314450" cy="285750"/>
            </a:xfrm>
            <a:prstGeom prst="roundRect">
              <a:avLst>
                <a:gd name="adj" fmla="val 50000"/>
              </a:avLst>
            </a:prstGeom>
            <a:solidFill>
              <a:srgbClr val="FBE5DB"/>
            </a:solidFill>
            <a:ln w="14288">
              <a:solidFill>
                <a:srgbClr val="FBE5DB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527488" y="5554028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chemeClr val="accent3"/>
                  </a:solidFill>
                  <a:latin typeface="Arial"/>
                  <a:ea typeface="Microsoft YaHei"/>
                  <a:cs typeface="Arial"/>
                </a:rPr>
                <a:t>本地演示版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533400" y="6429375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C5D2CC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8447" y="6552724"/>
              <a:ext cx="15149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08087"/>
                  </a:solidFill>
                  <a:latin typeface="Arial"/>
                  <a:ea typeface="Arial"/>
                  <a:cs typeface="Arial"/>
                </a:rPr>
                <a:t>Defense deck · 2026.09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28447" y="266224"/>
            <a:ext cx="11062713" cy="286226"/>
            <a:chOff x="528447" y="266224"/>
            <a:chExt cx="11062713" cy="286226"/>
          </a:xfrm>
        </p:grpSpPr>
        <p:sp>
          <p:nvSpPr>
            <p:cNvPr id="2" name="TextBox 2"/>
            <p:cNvSpPr txBox="1"/>
            <p:nvPr/>
          </p:nvSpPr>
          <p:spPr>
            <a:xfrm>
              <a:off x="528447" y="266224"/>
              <a:ext cx="11506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spc="150" dirty="0">
                  <a:solidFill>
                    <a:schemeClr val="accent2"/>
                  </a:solidFill>
                  <a:latin typeface="Arial"/>
                  <a:ea typeface="Arial"/>
                  <a:cs typeface="Arial"/>
                </a:rPr>
                <a:t>01 · PROBLEM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1139297" y="266224"/>
              <a:ext cx="4518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08087"/>
                  </a:solidFill>
                  <a:latin typeface="Consolas"/>
                  <a:ea typeface="Consolas"/>
                  <a:cs typeface="Consolas"/>
                </a:rPr>
                <a:t>02 / 15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33400" y="514350"/>
              <a:ext cx="304800" cy="381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</p:grpSp>
      <p:grpSp>
        <p:nvGrpSpPr>
          <p:cNvPr id="29" name="Group 29"/>
          <p:cNvGrpSpPr/>
          <p:nvPr/>
        </p:nvGrpSpPr>
        <p:grpSpPr>
          <a:xfrm>
            <a:off x="520446" y="724852"/>
            <a:ext cx="11138154" cy="6018562"/>
            <a:chOff x="520446" y="724852"/>
            <a:chExt cx="11138154" cy="6018562"/>
          </a:xfrm>
        </p:grpSpPr>
        <p:sp>
          <p:nvSpPr>
            <p:cNvPr id="6" name="TextBox 6"/>
            <p:cNvSpPr txBox="1"/>
            <p:nvPr/>
          </p:nvSpPr>
          <p:spPr>
            <a:xfrm>
              <a:off x="520446" y="724852"/>
              <a:ext cx="311543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1"/>
                  </a:solidFill>
                  <a:latin typeface="Arial"/>
                  <a:ea typeface="Microsoft YaHei"/>
                  <a:cs typeface="Arial"/>
                </a:rPr>
                <a:t>从一个真实报错开始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45973" y="1167289"/>
              <a:ext cx="34592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708087"/>
                  </a:solidFill>
                  <a:latin typeface="Arial"/>
                  <a:ea typeface="Microsoft YaHei"/>
                  <a:cs typeface="Arial"/>
                </a:rPr>
                <a:t>错误只有一行，判断下一步需要一整条证据链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533400" y="1676400"/>
              <a:ext cx="5810250" cy="4000500"/>
            </a:xfrm>
            <a:prstGeom prst="roundRect">
              <a:avLst>
                <a:gd name="adj" fmla="val 4286"/>
              </a:avLst>
            </a:prstGeom>
            <a:solidFill>
              <a:srgbClr val="1E2A31"/>
            </a:solidFill>
            <a:ln w="14288">
              <a:solidFill>
                <a:srgbClr val="1E2A31"/>
              </a:solidFill>
            </a:ln>
          </p:spPr>
        </p:sp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04850" y="2043708"/>
              <a:ext cx="5467350" cy="3075384"/>
            </a:xfrm>
            <a:prstGeom prst="rect">
              <a:avLst/>
            </a:prstGeom>
          </p:spPr>
        </p:pic>
        <p:sp>
          <p:nvSpPr>
            <p:cNvPr id="10" name="Rectangle 10"/>
            <p:cNvSpPr/>
            <p:nvPr/>
          </p:nvSpPr>
          <p:spPr>
            <a:xfrm>
              <a:off x="762000" y="5429250"/>
              <a:ext cx="1238250" cy="285750"/>
            </a:xfrm>
            <a:prstGeom prst="roundRect">
              <a:avLst>
                <a:gd name="adj" fmla="val 50000"/>
              </a:avLst>
            </a:prstGeom>
            <a:solidFill>
              <a:srgbClr val="283840"/>
            </a:solidFill>
            <a:ln w="14288">
              <a:solidFill>
                <a:srgbClr val="283840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51738" y="550640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CE5DB"/>
                  </a:solidFill>
                  <a:latin typeface="Arial"/>
                  <a:ea typeface="Microsoft YaHei"/>
                  <a:cs typeface="Arial"/>
                </a:rPr>
                <a:t>真实脱敏输入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6896100" y="1676400"/>
              <a:ext cx="4762500" cy="4000500"/>
            </a:xfrm>
            <a:prstGeom prst="roundRect">
              <a:avLst>
                <a:gd name="adj" fmla="val 4286"/>
              </a:avLst>
            </a:prstGeom>
            <a:solidFill>
              <a:srgbClr val="FFFFFF"/>
            </a:solidFill>
            <a:ln w="14288">
              <a:solidFill>
                <a:srgbClr val="C5D2CC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212711" y="1979771"/>
              <a:ext cx="23084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3"/>
                  </a:solidFill>
                  <a:latin typeface="Arial"/>
                  <a:ea typeface="Microsoft YaHei"/>
                  <a:cs typeface="Arial"/>
                </a:rPr>
                <a:t>学生真正需要判断的三件事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181850" y="2400300"/>
              <a:ext cx="304800" cy="304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288101" y="249650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1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31430" y="245745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Arial"/>
                  <a:ea typeface="Microsoft YaHei"/>
                  <a:cs typeface="Arial"/>
                </a:rPr>
                <a:t>是什么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32954" y="2756535"/>
              <a:ext cx="27421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ModuleNotFoundError 指向导入失败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181850" y="3276600"/>
              <a:ext cx="304800" cy="304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288101" y="337280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31430" y="333375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Arial"/>
                  <a:ea typeface="Microsoft YaHei"/>
                  <a:cs typeface="Arial"/>
                </a:rPr>
                <a:t>发生在哪里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32954" y="3632835"/>
              <a:ext cx="29778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Windows / Python 3.13.5 / 当前解释器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7181850" y="4152900"/>
              <a:ext cx="304800" cy="304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288101" y="424910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3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31430" y="4210050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Arial"/>
                  <a:ea typeface="Microsoft YaHei"/>
                  <a:cs typeface="Arial"/>
                </a:rPr>
                <a:t>下一步信什么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32954" y="4509135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官方资料、检查命令与明确限制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213092" y="5140642"/>
              <a:ext cx="36431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Arial"/>
                  <a:ea typeface="Microsoft YaHei"/>
                  <a:cs typeface="Arial"/>
                </a:rPr>
                <a:t>DebugMate 的任务：让判断有证据可回看。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533400" y="6429375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C5D2CC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28447" y="6552724"/>
              <a:ext cx="237796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08087"/>
                  </a:solidFill>
                  <a:latin typeface="Arial"/>
                  <a:ea typeface="Microsoft YaHei"/>
                  <a:cs typeface="Arial"/>
                </a:rPr>
                <a:t>DebugMate · V0.1 · 可追溯诊断工作流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28447" y="266224"/>
            <a:ext cx="11062713" cy="286226"/>
            <a:chOff x="528447" y="266224"/>
            <a:chExt cx="11062713" cy="286226"/>
          </a:xfrm>
        </p:grpSpPr>
        <p:sp>
          <p:nvSpPr>
            <p:cNvPr id="2" name="TextBox 2"/>
            <p:cNvSpPr txBox="1"/>
            <p:nvPr/>
          </p:nvSpPr>
          <p:spPr>
            <a:xfrm>
              <a:off x="528447" y="266224"/>
              <a:ext cx="11506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spc="150" dirty="0">
                  <a:solidFill>
                    <a:schemeClr val="accent2"/>
                  </a:solidFill>
                  <a:latin typeface="Arial"/>
                  <a:ea typeface="Arial"/>
                  <a:cs typeface="Arial"/>
                </a:rPr>
                <a:t>01 · PROBLEM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1139297" y="266224"/>
              <a:ext cx="4518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08087"/>
                  </a:solidFill>
                  <a:latin typeface="Consolas"/>
                  <a:ea typeface="Consolas"/>
                  <a:cs typeface="Consolas"/>
                </a:rPr>
                <a:t>03 / 15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33400" y="514350"/>
              <a:ext cx="304800" cy="381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</p:grpSp>
      <p:grpSp>
        <p:nvGrpSpPr>
          <p:cNvPr id="30" name="Group 30"/>
          <p:cNvGrpSpPr/>
          <p:nvPr/>
        </p:nvGrpSpPr>
        <p:grpSpPr>
          <a:xfrm>
            <a:off x="520446" y="724852"/>
            <a:ext cx="11138154" cy="6018562"/>
            <a:chOff x="520446" y="724852"/>
            <a:chExt cx="11138154" cy="6018562"/>
          </a:xfrm>
        </p:grpSpPr>
        <p:sp>
          <p:nvSpPr>
            <p:cNvPr id="6" name="TextBox 6"/>
            <p:cNvSpPr txBox="1"/>
            <p:nvPr/>
          </p:nvSpPr>
          <p:spPr>
            <a:xfrm>
              <a:off x="520446" y="724852"/>
              <a:ext cx="311543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1"/>
                  </a:solidFill>
                  <a:latin typeface="Arial"/>
                  <a:ea typeface="Microsoft YaHei"/>
                  <a:cs typeface="Arial"/>
                </a:rPr>
                <a:t>普通问答为什么不够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45973" y="1167289"/>
              <a:ext cx="485496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708087"/>
                  </a:solidFill>
                  <a:latin typeface="Arial"/>
                  <a:ea typeface="Microsoft YaHei"/>
                  <a:cs typeface="Arial"/>
                </a:rPr>
                <a:t>价值不在于“回答更多”，而在于让回答可追溯、可检查、可复盘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533400" y="2000250"/>
              <a:ext cx="3333750" cy="2667000"/>
            </a:xfrm>
            <a:prstGeom prst="roundRect">
              <a:avLst>
                <a:gd name="adj" fmla="val 6429"/>
              </a:avLst>
            </a:prstGeom>
            <a:solidFill>
              <a:srgbClr val="FFFFFF"/>
            </a:solidFill>
            <a:ln w="14288">
              <a:solidFill>
                <a:srgbClr val="C5D2CC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62762" y="2183130"/>
              <a:ext cx="59632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chemeClr val="accent3">
                      <a:alphaMod val="35000"/>
                    </a:schemeClr>
                  </a:solidFill>
                  <a:latin typeface="Consolas"/>
                  <a:ea typeface="Consolas"/>
                  <a:cs typeface="Consolas"/>
                </a:rPr>
                <a:t>01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90575" y="3036094"/>
              <a:ext cx="1031392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chemeClr val="accent1"/>
                  </a:solidFill>
                  <a:latin typeface="Arial"/>
                  <a:ea typeface="Microsoft YaHei"/>
                  <a:cs typeface="Arial"/>
                </a:rPr>
                <a:t>证据缺失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93623" y="3500914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看似合理的安装命令，未必绑定当前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93623" y="3767614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环境和官方资料。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800100" y="4286250"/>
              <a:ext cx="762000" cy="47625"/>
            </a:xfrm>
            <a:prstGeom prst="roundRect">
              <a:avLst>
                <a:gd name="adj" fmla="val 4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4229100" y="2000250"/>
              <a:ext cx="3333750" cy="2667000"/>
            </a:xfrm>
            <a:prstGeom prst="roundRect">
              <a:avLst>
                <a:gd name="adj" fmla="val 6429"/>
              </a:avLst>
            </a:prstGeom>
            <a:solidFill>
              <a:srgbClr val="FFFFFF"/>
            </a:solidFill>
            <a:ln w="14288">
              <a:solidFill>
                <a:srgbClr val="C5D2CC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458462" y="2183130"/>
              <a:ext cx="59632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chemeClr val="accent2">
                      <a:alphaMod val="35000"/>
                    </a:schemeClr>
                  </a:solidFill>
                  <a:latin typeface="Consolas"/>
                  <a:ea typeface="Consolas"/>
                  <a:cs typeface="Consolas"/>
                </a:rPr>
                <a:t>02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486275" y="3036094"/>
              <a:ext cx="1284478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chemeClr val="accent1"/>
                  </a:solidFill>
                  <a:latin typeface="Arial"/>
                  <a:ea typeface="Microsoft YaHei"/>
                  <a:cs typeface="Arial"/>
                </a:rPr>
                <a:t>环境不确定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489323" y="3500914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解释器、版本、路径和截图信息常常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489323" y="3767614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分散在不同位置。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4495800" y="4286250"/>
              <a:ext cx="762000" cy="47625"/>
            </a:xfrm>
            <a:prstGeom prst="roundRect">
              <a:avLst>
                <a:gd name="adj" fmla="val 4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924800" y="2000250"/>
              <a:ext cx="3333750" cy="2667000"/>
            </a:xfrm>
            <a:prstGeom prst="roundRect">
              <a:avLst>
                <a:gd name="adj" fmla="val 6429"/>
              </a:avLst>
            </a:prstGeom>
            <a:solidFill>
              <a:srgbClr val="FFFFFF"/>
            </a:solidFill>
            <a:ln w="14288">
              <a:solidFill>
                <a:srgbClr val="C5D2CC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154162" y="2183130"/>
              <a:ext cx="59632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6D7BB8">
                      <a:alphaMod val="35000"/>
                    </a:srgbClr>
                  </a:solidFill>
                  <a:latin typeface="Consolas"/>
                  <a:ea typeface="Consolas"/>
                  <a:cs typeface="Consolas"/>
                </a:rPr>
                <a:t>03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181975" y="3036094"/>
              <a:ext cx="1284478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chemeClr val="accent1"/>
                  </a:solidFill>
                  <a:latin typeface="Arial"/>
                  <a:ea typeface="Microsoft YaHei"/>
                  <a:cs typeface="Arial"/>
                </a:rPr>
                <a:t>结果难沉淀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185023" y="3500914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修好一次不等于理解一次，缺少结构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185023" y="3767614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化的学习记录。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8191500" y="4286250"/>
              <a:ext cx="762000" cy="47625"/>
            </a:xfrm>
            <a:prstGeom prst="roundRect">
              <a:avLst>
                <a:gd name="adj" fmla="val 40000"/>
              </a:avLst>
            </a:prstGeom>
            <a:solidFill>
              <a:srgbClr val="6D7BB8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533400" y="5143500"/>
              <a:ext cx="11125200" cy="666750"/>
            </a:xfrm>
            <a:prstGeom prst="roundRect">
              <a:avLst>
                <a:gd name="adj" fmla="val 25714"/>
              </a:avLst>
            </a:prstGeom>
            <a:solidFill>
              <a:schemeClr val="accent1"/>
            </a:solidFill>
            <a:ln w="14288">
              <a:solidFill>
                <a:schemeClr val="accent1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2729814" y="5376386"/>
              <a:ext cx="6732372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目标：把一次排错，转化为可追溯、可检查、可复盘的学习过程。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533400" y="6429375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C5D2CC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28447" y="6552724"/>
              <a:ext cx="237796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08087"/>
                  </a:solidFill>
                  <a:latin typeface="Arial"/>
                  <a:ea typeface="Microsoft YaHei"/>
                  <a:cs typeface="Arial"/>
                </a:rPr>
                <a:t>DebugMate · V0.1 · 可追溯诊断工作流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28447" y="266224"/>
            <a:ext cx="11062713" cy="286226"/>
            <a:chOff x="528447" y="266224"/>
            <a:chExt cx="11062713" cy="286226"/>
          </a:xfrm>
        </p:grpSpPr>
        <p:sp>
          <p:nvSpPr>
            <p:cNvPr id="2" name="TextBox 2"/>
            <p:cNvSpPr txBox="1"/>
            <p:nvPr/>
          </p:nvSpPr>
          <p:spPr>
            <a:xfrm>
              <a:off x="528447" y="266224"/>
              <a:ext cx="9267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spc="150" dirty="0">
                  <a:solidFill>
                    <a:schemeClr val="accent2"/>
                  </a:solidFill>
                  <a:latin typeface="Arial"/>
                  <a:ea typeface="Arial"/>
                  <a:cs typeface="Arial"/>
                </a:rPr>
                <a:t>01 · SCOPE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1139297" y="266224"/>
              <a:ext cx="4518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08087"/>
                  </a:solidFill>
                  <a:latin typeface="Consolas"/>
                  <a:ea typeface="Consolas"/>
                  <a:cs typeface="Consolas"/>
                </a:rPr>
                <a:t>04 / 15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33400" y="514350"/>
              <a:ext cx="304800" cy="381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</p:grpSp>
      <p:grpSp>
        <p:nvGrpSpPr>
          <p:cNvPr id="44" name="Group 44"/>
          <p:cNvGrpSpPr/>
          <p:nvPr/>
        </p:nvGrpSpPr>
        <p:grpSpPr>
          <a:xfrm>
            <a:off x="520446" y="724852"/>
            <a:ext cx="11138154" cy="6018562"/>
            <a:chOff x="520446" y="724852"/>
            <a:chExt cx="11138154" cy="6018562"/>
          </a:xfrm>
        </p:grpSpPr>
        <p:sp>
          <p:nvSpPr>
            <p:cNvPr id="6" name="TextBox 6"/>
            <p:cNvSpPr txBox="1"/>
            <p:nvPr/>
          </p:nvSpPr>
          <p:spPr>
            <a:xfrm>
              <a:off x="520446" y="724852"/>
              <a:ext cx="424243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1"/>
                  </a:solidFill>
                  <a:latin typeface="Arial"/>
                  <a:ea typeface="Microsoft YaHei"/>
                  <a:cs typeface="Arial"/>
                </a:rPr>
                <a:t>V0.1 做什么，也不做什么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45973" y="1167289"/>
              <a:ext cx="38038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708087"/>
                  </a:solidFill>
                  <a:latin typeface="Arial"/>
                  <a:ea typeface="Microsoft YaHei"/>
                  <a:cs typeface="Arial"/>
                </a:rPr>
                <a:t>课程交付优先：闭环真实可演示，边界明确不夸大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533400" y="1809750"/>
              <a:ext cx="5143500" cy="3905250"/>
            </a:xfrm>
            <a:prstGeom prst="roundRect">
              <a:avLst>
                <a:gd name="adj" fmla="val 4878"/>
              </a:avLst>
            </a:prstGeom>
            <a:solidFill>
              <a:srgbClr val="E1F1EC"/>
            </a:solidFill>
            <a:ln w="14288">
              <a:solidFill>
                <a:srgbClr val="B9DDD3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6134100" y="1809750"/>
              <a:ext cx="5524500" cy="3905250"/>
            </a:xfrm>
            <a:prstGeom prst="roundRect">
              <a:avLst>
                <a:gd name="adj" fmla="val 4878"/>
              </a:avLst>
            </a:prstGeom>
            <a:solidFill>
              <a:srgbClr val="FBEAE3"/>
            </a:solidFill>
            <a:ln w="14288">
              <a:solidFill>
                <a:srgbClr val="F0C4B4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7156" y="209169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Arial"/>
                  <a:ea typeface="Microsoft YaHei"/>
                  <a:cs typeface="Arial"/>
                </a:rPr>
                <a:t>本版本交付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467856" y="20916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3"/>
                  </a:solidFill>
                  <a:latin typeface="Arial"/>
                  <a:ea typeface="Microsoft YaHei"/>
                  <a:cs typeface="Arial"/>
                </a:rPr>
                <a:t>明确延后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800100" y="2600325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40185" y="2656999"/>
              <a:ext cx="14843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✓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55573" y="2643664"/>
              <a:ext cx="23232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1"/>
                  </a:solidFill>
                  <a:latin typeface="Arial"/>
                  <a:ea typeface="Microsoft YaHei"/>
                  <a:cs typeface="Arial"/>
                </a:rPr>
                <a:t>Windows 本地浏览器真实演示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800100" y="3114675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40185" y="3171349"/>
              <a:ext cx="14843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✓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55573" y="3158014"/>
              <a:ext cx="232195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1"/>
                  </a:solidFill>
                  <a:latin typeface="Arial"/>
                  <a:ea typeface="Microsoft YaHei"/>
                  <a:cs typeface="Arial"/>
                </a:rPr>
                <a:t>17 个官方知识来源与检索证据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800100" y="3629025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40185" y="3685699"/>
              <a:ext cx="14843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✓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5573" y="3672364"/>
              <a:ext cx="210656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1"/>
                  </a:solidFill>
                  <a:latin typeface="Arial"/>
                  <a:ea typeface="Microsoft YaHei"/>
                  <a:cs typeface="Arial"/>
                </a:rPr>
                <a:t>上传前脱敏 + 用户预览确认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800100" y="4143375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40185" y="4200049"/>
              <a:ext cx="14843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✓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55573" y="4186714"/>
              <a:ext cx="226148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1"/>
                  </a:solidFill>
                  <a:latin typeface="Arial"/>
                  <a:ea typeface="Microsoft YaHei"/>
                  <a:cs typeface="Arial"/>
                </a:rPr>
                <a:t>同源报告 / PNG / MP3 / ZIP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800100" y="4657725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40185" y="4714399"/>
              <a:ext cx="14843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✓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155573" y="4701064"/>
              <a:ext cx="222718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1"/>
                  </a:solidFill>
                  <a:latin typeface="Arial"/>
                  <a:ea typeface="Microsoft YaHei"/>
                  <a:cs typeface="Arial"/>
                </a:rPr>
                <a:t>4 个代表性案例与提示词账本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6400800" y="2600325"/>
              <a:ext cx="228600" cy="2286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472053" y="265699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–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756273" y="2643664"/>
              <a:ext cx="237072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1"/>
                  </a:solidFill>
                  <a:latin typeface="Arial"/>
                  <a:ea typeface="Microsoft YaHei"/>
                  <a:cs typeface="Arial"/>
                </a:rPr>
                <a:t>公网部署、账户、权限与 SLA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6400800" y="3114675"/>
              <a:ext cx="228600" cy="2286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472053" y="317134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–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756273" y="3158014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1"/>
                  </a:solidFill>
                  <a:latin typeface="Arial"/>
                  <a:ea typeface="Microsoft YaHei"/>
                  <a:cs typeface="Arial"/>
                </a:rPr>
                <a:t>跨平台并发和生产监控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6400800" y="3629025"/>
              <a:ext cx="228600" cy="2286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472053" y="368569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–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756273" y="3672364"/>
              <a:ext cx="220609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1"/>
                  </a:solidFill>
                  <a:latin typeface="Arial"/>
                  <a:ea typeface="Microsoft YaHei"/>
                  <a:cs typeface="Arial"/>
                </a:rPr>
                <a:t>稳定的 Dify 浏览器端全链路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6400800" y="4143375"/>
              <a:ext cx="228600" cy="2286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472053" y="420004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–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756273" y="4186714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1"/>
                  </a:solidFill>
                  <a:latin typeface="Arial"/>
                  <a:ea typeface="Microsoft YaHei"/>
                  <a:cs typeface="Arial"/>
                </a:rPr>
                <a:t>自动执行修复命令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6400800" y="4657725"/>
              <a:ext cx="228600" cy="2286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472053" y="471439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–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756273" y="4701064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1"/>
                  </a:solidFill>
                  <a:latin typeface="Arial"/>
                  <a:ea typeface="Microsoft YaHei"/>
                  <a:cs typeface="Arial"/>
                </a:rPr>
                <a:t>把未验证输出扩写成成功率</a:t>
              </a:r>
            </a:p>
          </p:txBody>
        </p:sp>
        <p:sp>
          <p:nvSpPr>
            <p:cNvPr id="42" name="Line 42"/>
            <p:cNvSpPr/>
            <p:nvPr/>
          </p:nvSpPr>
          <p:spPr>
            <a:xfrm>
              <a:off x="533400" y="6429375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C5D2CC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528447" y="6552724"/>
              <a:ext cx="237796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08087"/>
                  </a:solidFill>
                  <a:latin typeface="Arial"/>
                  <a:ea typeface="Microsoft YaHei"/>
                  <a:cs typeface="Arial"/>
                </a:rPr>
                <a:t>DebugMate · V0.1 · 可追溯诊断工作流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28447" y="266224"/>
            <a:ext cx="11062713" cy="286226"/>
            <a:chOff x="528447" y="266224"/>
            <a:chExt cx="11062713" cy="286226"/>
          </a:xfrm>
        </p:grpSpPr>
        <p:sp>
          <p:nvSpPr>
            <p:cNvPr id="2" name="TextBox 2"/>
            <p:cNvSpPr txBox="1"/>
            <p:nvPr/>
          </p:nvSpPr>
          <p:spPr>
            <a:xfrm>
              <a:off x="528447" y="266224"/>
              <a:ext cx="102478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spc="150" dirty="0">
                  <a:solidFill>
                    <a:schemeClr val="accent2"/>
                  </a:solidFill>
                  <a:latin typeface="Arial"/>
                  <a:ea typeface="Arial"/>
                  <a:cs typeface="Arial"/>
                </a:rPr>
                <a:t>02 · SYSTEM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1139297" y="266224"/>
              <a:ext cx="4518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08087"/>
                  </a:solidFill>
                  <a:latin typeface="Consolas"/>
                  <a:ea typeface="Consolas"/>
                  <a:cs typeface="Consolas"/>
                </a:rPr>
                <a:t>05 / 15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33400" y="514350"/>
              <a:ext cx="304800" cy="381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</p:grpSp>
      <p:grpSp>
        <p:nvGrpSpPr>
          <p:cNvPr id="57" name="Group 57"/>
          <p:cNvGrpSpPr/>
          <p:nvPr/>
        </p:nvGrpSpPr>
        <p:grpSpPr>
          <a:xfrm>
            <a:off x="520446" y="724852"/>
            <a:ext cx="11157204" cy="6018562"/>
            <a:chOff x="520446" y="724852"/>
            <a:chExt cx="11157204" cy="6018562"/>
          </a:xfrm>
        </p:grpSpPr>
        <p:sp>
          <p:nvSpPr>
            <p:cNvPr id="6" name="TextBox 6"/>
            <p:cNvSpPr txBox="1"/>
            <p:nvPr/>
          </p:nvSpPr>
          <p:spPr>
            <a:xfrm>
              <a:off x="520446" y="724852"/>
              <a:ext cx="311543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1"/>
                  </a:solidFill>
                  <a:latin typeface="Arial"/>
                  <a:ea typeface="Microsoft YaHei"/>
                  <a:cs typeface="Arial"/>
                </a:rPr>
                <a:t>一次诊断的完整路径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45973" y="1167289"/>
              <a:ext cx="483773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708087"/>
                  </a:solidFill>
                  <a:latin typeface="Arial"/>
                  <a:ea typeface="Microsoft YaHei"/>
                  <a:cs typeface="Arial"/>
                </a:rPr>
                <a:t>每一步都有清晰输入与输出，最后所有产物回到同一个诊断对象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533400" y="2476500"/>
              <a:ext cx="1524000" cy="1143000"/>
            </a:xfrm>
            <a:prstGeom prst="roundRect">
              <a:avLst>
                <a:gd name="adj" fmla="val 15000"/>
              </a:avLst>
            </a:prstGeom>
            <a:solidFill>
              <a:srgbClr val="FFFFFF"/>
            </a:solidFill>
            <a:ln w="14288">
              <a:solidFill>
                <a:srgbClr val="C5D2CC"/>
              </a:solidFill>
            </a:ln>
          </p:spPr>
        </p:sp>
        <p:sp>
          <p:nvSpPr>
            <p:cNvPr id="9" name="Ellipse 9"/>
            <p:cNvSpPr/>
            <p:nvPr/>
          </p:nvSpPr>
          <p:spPr>
            <a:xfrm>
              <a:off x="657225" y="2609850"/>
              <a:ext cx="266700" cy="266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11032" y="2677478"/>
              <a:ext cx="1590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✓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21842" y="264509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Arial"/>
                  <a:ea typeface="Microsoft YaHei"/>
                  <a:cs typeface="Arial"/>
                </a:rPr>
                <a:t>输入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18566" y="2982278"/>
              <a:ext cx="11838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08087"/>
                  </a:solidFill>
                  <a:latin typeface="Arial"/>
                  <a:ea typeface="Microsoft YaHei"/>
                  <a:cs typeface="Arial"/>
                </a:rPr>
                <a:t>文本 / 代码 / 截图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2105025" y="3048000"/>
              <a:ext cx="171450" cy="9525"/>
            </a:xfrm>
            <a:custGeom>
              <a:avLst/>
              <a:gdLst/>
              <a:ahLst/>
              <a:cxnLst/>
              <a:rect l="l" t="t" r="r" b="b"/>
              <a:pathLst>
                <a:path w="171450" h="9525">
                  <a:moveTo>
                    <a:pt x="0" y="0"/>
                  </a:moveTo>
                  <a:lnTo>
                    <a:pt x="171450" y="0"/>
                  </a:lnTo>
                </a:path>
              </a:pathLst>
            </a:custGeom>
            <a:noFill/>
            <a:ln w="28575" cap="rnd">
              <a:solidFill>
                <a:schemeClr val="accent2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2247900" y="2981325"/>
              <a:ext cx="142875" cy="133350"/>
            </a:xfrm>
            <a:custGeom>
              <a:avLst/>
              <a:gdLst/>
              <a:ahLst/>
              <a:cxnLst/>
              <a:rect l="l" t="t" r="r" b="b"/>
              <a:pathLst>
                <a:path w="142875" h="133350">
                  <a:moveTo>
                    <a:pt x="0" y="0"/>
                  </a:moveTo>
                  <a:lnTo>
                    <a:pt x="142875" y="66675"/>
                  </a:lnTo>
                  <a:lnTo>
                    <a:pt x="0" y="133350"/>
                  </a:lnTo>
                </a:path>
              </a:pathLst>
            </a:custGeom>
            <a:noFill/>
            <a:ln w="28575" cap="rnd">
              <a:solidFill>
                <a:schemeClr val="accent2"/>
              </a:solidFill>
              <a:round/>
            </a:ln>
          </p:spPr>
        </p:sp>
        <p:sp>
          <p:nvSpPr>
            <p:cNvPr id="15" name="Rectangle 15"/>
            <p:cNvSpPr/>
            <p:nvPr/>
          </p:nvSpPr>
          <p:spPr>
            <a:xfrm>
              <a:off x="2457450" y="2476500"/>
              <a:ext cx="1524000" cy="1143000"/>
            </a:xfrm>
            <a:prstGeom prst="roundRect">
              <a:avLst>
                <a:gd name="adj" fmla="val 15000"/>
              </a:avLst>
            </a:prstGeom>
            <a:solidFill>
              <a:srgbClr val="FFFFFF"/>
            </a:solidFill>
            <a:ln w="14288">
              <a:solidFill>
                <a:srgbClr val="C5D2CC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2581275" y="2609850"/>
              <a:ext cx="266700" cy="266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635082" y="2677478"/>
              <a:ext cx="1590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✓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945892" y="264509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Arial"/>
                  <a:ea typeface="Microsoft YaHei"/>
                  <a:cs typeface="Arial"/>
                </a:rPr>
                <a:t>隐私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642616" y="2982278"/>
              <a:ext cx="10213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08087"/>
                  </a:solidFill>
                  <a:latin typeface="Arial"/>
                  <a:ea typeface="Microsoft YaHei"/>
                  <a:cs typeface="Arial"/>
                </a:rPr>
                <a:t>脱敏 + 预览确认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4029075" y="3048000"/>
              <a:ext cx="171450" cy="9525"/>
            </a:xfrm>
            <a:custGeom>
              <a:avLst/>
              <a:gdLst/>
              <a:ahLst/>
              <a:cxnLst/>
              <a:rect l="l" t="t" r="r" b="b"/>
              <a:pathLst>
                <a:path w="171450" h="9525">
                  <a:moveTo>
                    <a:pt x="0" y="0"/>
                  </a:moveTo>
                  <a:lnTo>
                    <a:pt x="171450" y="0"/>
                  </a:lnTo>
                </a:path>
              </a:pathLst>
            </a:custGeom>
            <a:noFill/>
            <a:ln w="28575" cap="rnd">
              <a:solidFill>
                <a:schemeClr val="accent2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4171950" y="2981325"/>
              <a:ext cx="142875" cy="133350"/>
            </a:xfrm>
            <a:custGeom>
              <a:avLst/>
              <a:gdLst/>
              <a:ahLst/>
              <a:cxnLst/>
              <a:rect l="l" t="t" r="r" b="b"/>
              <a:pathLst>
                <a:path w="142875" h="133350">
                  <a:moveTo>
                    <a:pt x="0" y="0"/>
                  </a:moveTo>
                  <a:lnTo>
                    <a:pt x="142875" y="66675"/>
                  </a:lnTo>
                  <a:lnTo>
                    <a:pt x="0" y="133350"/>
                  </a:lnTo>
                </a:path>
              </a:pathLst>
            </a:custGeom>
            <a:noFill/>
            <a:ln w="28575" cap="rnd">
              <a:solidFill>
                <a:schemeClr val="accent2"/>
              </a:solidFill>
              <a:round/>
            </a:ln>
          </p:spPr>
        </p:sp>
        <p:sp>
          <p:nvSpPr>
            <p:cNvPr id="22" name="Rectangle 22"/>
            <p:cNvSpPr/>
            <p:nvPr/>
          </p:nvSpPr>
          <p:spPr>
            <a:xfrm>
              <a:off x="4381500" y="2476500"/>
              <a:ext cx="1524000" cy="1143000"/>
            </a:xfrm>
            <a:prstGeom prst="roundRect">
              <a:avLst>
                <a:gd name="adj" fmla="val 15000"/>
              </a:avLst>
            </a:prstGeom>
            <a:solidFill>
              <a:srgbClr val="FFFFFF"/>
            </a:solidFill>
            <a:ln w="14288">
              <a:solidFill>
                <a:srgbClr val="C5D2CC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4505325" y="2609850"/>
              <a:ext cx="266700" cy="266700"/>
            </a:xfrm>
            <a:prstGeom prst="ellipse">
              <a:avLst/>
            </a:prstGeom>
            <a:solidFill>
              <a:srgbClr val="6D7BB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559132" y="2677478"/>
              <a:ext cx="1590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✓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869942" y="264509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Arial"/>
                  <a:ea typeface="Microsoft YaHei"/>
                  <a:cs typeface="Arial"/>
                </a:rPr>
                <a:t>抽取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566666" y="2982278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08087"/>
                  </a:solidFill>
                  <a:latin typeface="Arial"/>
                  <a:ea typeface="Microsoft YaHei"/>
                  <a:cs typeface="Arial"/>
                </a:rPr>
                <a:t>事实与纠错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5953125" y="3048000"/>
              <a:ext cx="171450" cy="9525"/>
            </a:xfrm>
            <a:custGeom>
              <a:avLst/>
              <a:gdLst/>
              <a:ahLst/>
              <a:cxnLst/>
              <a:rect l="l" t="t" r="r" b="b"/>
              <a:pathLst>
                <a:path w="171450" h="9525">
                  <a:moveTo>
                    <a:pt x="0" y="0"/>
                  </a:moveTo>
                  <a:lnTo>
                    <a:pt x="171450" y="0"/>
                  </a:lnTo>
                </a:path>
              </a:pathLst>
            </a:custGeom>
            <a:noFill/>
            <a:ln w="28575" cap="rnd">
              <a:solidFill>
                <a:schemeClr val="accent2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6096000" y="2981325"/>
              <a:ext cx="142875" cy="133350"/>
            </a:xfrm>
            <a:custGeom>
              <a:avLst/>
              <a:gdLst/>
              <a:ahLst/>
              <a:cxnLst/>
              <a:rect l="l" t="t" r="r" b="b"/>
              <a:pathLst>
                <a:path w="142875" h="133350">
                  <a:moveTo>
                    <a:pt x="0" y="0"/>
                  </a:moveTo>
                  <a:lnTo>
                    <a:pt x="142875" y="66675"/>
                  </a:lnTo>
                  <a:lnTo>
                    <a:pt x="0" y="133350"/>
                  </a:lnTo>
                </a:path>
              </a:pathLst>
            </a:custGeom>
            <a:noFill/>
            <a:ln w="28575" cap="rnd">
              <a:solidFill>
                <a:schemeClr val="accent2"/>
              </a:solidFill>
              <a:round/>
            </a:ln>
          </p:spPr>
        </p:sp>
        <p:sp>
          <p:nvSpPr>
            <p:cNvPr id="29" name="Rectangle 29"/>
            <p:cNvSpPr/>
            <p:nvPr/>
          </p:nvSpPr>
          <p:spPr>
            <a:xfrm>
              <a:off x="6305550" y="2476500"/>
              <a:ext cx="1524000" cy="1143000"/>
            </a:xfrm>
            <a:prstGeom prst="roundRect">
              <a:avLst>
                <a:gd name="adj" fmla="val 15000"/>
              </a:avLst>
            </a:prstGeom>
            <a:solidFill>
              <a:srgbClr val="FFFFFF"/>
            </a:solidFill>
            <a:ln w="14288">
              <a:solidFill>
                <a:srgbClr val="C5D2CC"/>
              </a:solidFill>
            </a:ln>
          </p:spPr>
        </p:sp>
        <p:sp>
          <p:nvSpPr>
            <p:cNvPr id="30" name="Ellipse 30"/>
            <p:cNvSpPr/>
            <p:nvPr/>
          </p:nvSpPr>
          <p:spPr>
            <a:xfrm>
              <a:off x="6429375" y="2609850"/>
              <a:ext cx="266700" cy="266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483182" y="2677478"/>
              <a:ext cx="1590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✓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793992" y="264509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Arial"/>
                  <a:ea typeface="Microsoft YaHei"/>
                  <a:cs typeface="Arial"/>
                </a:rPr>
                <a:t>检索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490716" y="2982278"/>
              <a:ext cx="11438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08087"/>
                  </a:solidFill>
                  <a:latin typeface="Arial"/>
                  <a:ea typeface="Microsoft YaHei"/>
                  <a:cs typeface="Arial"/>
                </a:rPr>
                <a:t>官方 chunk / URL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7877175" y="3048000"/>
              <a:ext cx="171450" cy="9525"/>
            </a:xfrm>
            <a:custGeom>
              <a:avLst/>
              <a:gdLst/>
              <a:ahLst/>
              <a:cxnLst/>
              <a:rect l="l" t="t" r="r" b="b"/>
              <a:pathLst>
                <a:path w="171450" h="9525">
                  <a:moveTo>
                    <a:pt x="0" y="0"/>
                  </a:moveTo>
                  <a:lnTo>
                    <a:pt x="171450" y="0"/>
                  </a:lnTo>
                </a:path>
              </a:pathLst>
            </a:custGeom>
            <a:noFill/>
            <a:ln w="28575" cap="rnd">
              <a:solidFill>
                <a:schemeClr val="accent2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8020050" y="2981325"/>
              <a:ext cx="142875" cy="133350"/>
            </a:xfrm>
            <a:custGeom>
              <a:avLst/>
              <a:gdLst/>
              <a:ahLst/>
              <a:cxnLst/>
              <a:rect l="l" t="t" r="r" b="b"/>
              <a:pathLst>
                <a:path w="142875" h="133350">
                  <a:moveTo>
                    <a:pt x="0" y="0"/>
                  </a:moveTo>
                  <a:lnTo>
                    <a:pt x="142875" y="66675"/>
                  </a:lnTo>
                  <a:lnTo>
                    <a:pt x="0" y="133350"/>
                  </a:lnTo>
                </a:path>
              </a:pathLst>
            </a:custGeom>
            <a:noFill/>
            <a:ln w="28575" cap="rnd">
              <a:solidFill>
                <a:schemeClr val="accent2"/>
              </a:solidFill>
              <a:round/>
            </a:ln>
          </p:spPr>
        </p:sp>
        <p:sp>
          <p:nvSpPr>
            <p:cNvPr id="36" name="Rectangle 36"/>
            <p:cNvSpPr/>
            <p:nvPr/>
          </p:nvSpPr>
          <p:spPr>
            <a:xfrm>
              <a:off x="8229600" y="2476500"/>
              <a:ext cx="1524000" cy="1143000"/>
            </a:xfrm>
            <a:prstGeom prst="roundRect">
              <a:avLst>
                <a:gd name="adj" fmla="val 15000"/>
              </a:avLst>
            </a:prstGeom>
            <a:solidFill>
              <a:srgbClr val="FFFFFF"/>
            </a:solidFill>
            <a:ln w="14288">
              <a:solidFill>
                <a:srgbClr val="C5D2CC"/>
              </a:solidFill>
            </a:ln>
          </p:spPr>
        </p:sp>
        <p:sp>
          <p:nvSpPr>
            <p:cNvPr id="37" name="Ellipse 37"/>
            <p:cNvSpPr/>
            <p:nvPr/>
          </p:nvSpPr>
          <p:spPr>
            <a:xfrm>
              <a:off x="8353425" y="2609850"/>
              <a:ext cx="266700" cy="266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407232" y="2677478"/>
              <a:ext cx="1590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✓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718042" y="264509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Arial"/>
                  <a:ea typeface="Microsoft YaHei"/>
                  <a:cs typeface="Arial"/>
                </a:rPr>
                <a:t>诊断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414766" y="2982278"/>
              <a:ext cx="13921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08087"/>
                  </a:solidFill>
                  <a:latin typeface="Arial"/>
                  <a:ea typeface="Arial"/>
                  <a:cs typeface="Arial"/>
                </a:rPr>
                <a:t>DiagnosisRecord 1.1</a:t>
              </a:r>
            </a:p>
          </p:txBody>
        </p:sp>
        <p:sp>
          <p:nvSpPr>
            <p:cNvPr id="41" name="Line 41"/>
            <p:cNvSpPr/>
            <p:nvPr/>
          </p:nvSpPr>
          <p:spPr>
            <a:xfrm>
              <a:off x="9801225" y="3048000"/>
              <a:ext cx="171450" cy="9525"/>
            </a:xfrm>
            <a:custGeom>
              <a:avLst/>
              <a:gdLst/>
              <a:ahLst/>
              <a:cxnLst/>
              <a:rect l="l" t="t" r="r" b="b"/>
              <a:pathLst>
                <a:path w="171450" h="9525">
                  <a:moveTo>
                    <a:pt x="0" y="0"/>
                  </a:moveTo>
                  <a:lnTo>
                    <a:pt x="171450" y="0"/>
                  </a:lnTo>
                </a:path>
              </a:pathLst>
            </a:custGeom>
            <a:noFill/>
            <a:ln w="28575" cap="rnd">
              <a:solidFill>
                <a:schemeClr val="accent2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9944100" y="2981325"/>
              <a:ext cx="142875" cy="133350"/>
            </a:xfrm>
            <a:custGeom>
              <a:avLst/>
              <a:gdLst/>
              <a:ahLst/>
              <a:cxnLst/>
              <a:rect l="l" t="t" r="r" b="b"/>
              <a:pathLst>
                <a:path w="142875" h="133350">
                  <a:moveTo>
                    <a:pt x="0" y="0"/>
                  </a:moveTo>
                  <a:lnTo>
                    <a:pt x="142875" y="66675"/>
                  </a:lnTo>
                  <a:lnTo>
                    <a:pt x="0" y="133350"/>
                  </a:lnTo>
                </a:path>
              </a:pathLst>
            </a:custGeom>
            <a:noFill/>
            <a:ln w="28575" cap="rnd">
              <a:solidFill>
                <a:schemeClr val="accent2"/>
              </a:solidFill>
              <a:round/>
            </a:ln>
          </p:spPr>
        </p:sp>
        <p:sp>
          <p:nvSpPr>
            <p:cNvPr id="43" name="Rectangle 43"/>
            <p:cNvSpPr/>
            <p:nvPr/>
          </p:nvSpPr>
          <p:spPr>
            <a:xfrm>
              <a:off x="10153650" y="2476500"/>
              <a:ext cx="1524000" cy="1143000"/>
            </a:xfrm>
            <a:prstGeom prst="roundRect">
              <a:avLst>
                <a:gd name="adj" fmla="val 15000"/>
              </a:avLst>
            </a:prstGeom>
            <a:solidFill>
              <a:srgbClr val="FFFFFF"/>
            </a:solidFill>
            <a:ln w="14288">
              <a:solidFill>
                <a:srgbClr val="C5D2CC"/>
              </a:solidFill>
            </a:ln>
          </p:spPr>
        </p:sp>
        <p:sp>
          <p:nvSpPr>
            <p:cNvPr id="44" name="Ellipse 44"/>
            <p:cNvSpPr/>
            <p:nvPr/>
          </p:nvSpPr>
          <p:spPr>
            <a:xfrm>
              <a:off x="10277475" y="2609850"/>
              <a:ext cx="266700" cy="266700"/>
            </a:xfrm>
            <a:prstGeom prst="ellipse">
              <a:avLst/>
            </a:prstGeom>
            <a:solidFill>
              <a:srgbClr val="6D7BB8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10331282" y="2677478"/>
              <a:ext cx="1590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✓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0642092" y="264509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Arial"/>
                  <a:ea typeface="Microsoft YaHei"/>
                  <a:cs typeface="Arial"/>
                </a:rPr>
                <a:t>产物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338816" y="2982278"/>
              <a:ext cx="11756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08087"/>
                  </a:solidFill>
                  <a:latin typeface="Arial"/>
                  <a:ea typeface="Microsoft YaHei"/>
                  <a:cs typeface="Arial"/>
                </a:rPr>
                <a:t>报告 / PNG / MP3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533400" y="4476750"/>
              <a:ext cx="11125200" cy="1000125"/>
            </a:xfrm>
            <a:prstGeom prst="roundRect">
              <a:avLst>
                <a:gd name="adj" fmla="val 17143"/>
              </a:avLst>
            </a:prstGeom>
            <a:solidFill>
              <a:schemeClr val="accent1"/>
            </a:solidFill>
            <a:ln w="14288">
              <a:solidFill>
                <a:schemeClr val="accent1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832104" y="4728210"/>
              <a:ext cx="5937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BCE5DB"/>
                  </a:solidFill>
                  <a:latin typeface="Cascadia Mono"/>
                  <a:ea typeface="Cascadia Mono"/>
                  <a:cs typeface="Cascadia Mono"/>
                </a:rPr>
                <a:t>case_id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2375154" y="472821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Cascadia Mono"/>
                  <a:ea typeface="Cascadia Mono"/>
                  <a:cs typeface="Cascadia Mono"/>
                </a:rPr>
                <a:t>→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2737104" y="4728210"/>
              <a:ext cx="14822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BCE5DB"/>
                  </a:solidFill>
                  <a:latin typeface="Cascadia Mono"/>
                  <a:ea typeface="Cascadia Mono"/>
                  <a:cs typeface="Cascadia Mono"/>
                </a:rPr>
                <a:t>knowledge_build_id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5708904" y="472821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Cascadia Mono"/>
                  <a:ea typeface="Cascadia Mono"/>
                  <a:cs typeface="Cascadia Mono"/>
                </a:rPr>
                <a:t>→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108954" y="4728210"/>
              <a:ext cx="11753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BCE5DB"/>
                  </a:solidFill>
                  <a:latin typeface="Cascadia Mono"/>
                  <a:ea typeface="Cascadia Mono"/>
                  <a:cs typeface="Cascadia Mono"/>
                </a:rPr>
                <a:t>diagnosis_hash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30961" y="5037296"/>
              <a:ext cx="517580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从输入到导出的身份线索贯穿同一次运行，便于回看与复核。</a:t>
              </a:r>
            </a:p>
          </p:txBody>
        </p:sp>
        <p:sp>
          <p:nvSpPr>
            <p:cNvPr id="55" name="Line 55"/>
            <p:cNvSpPr/>
            <p:nvPr/>
          </p:nvSpPr>
          <p:spPr>
            <a:xfrm>
              <a:off x="533400" y="6429375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C5D2CC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528447" y="6552724"/>
              <a:ext cx="237796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08087"/>
                  </a:solidFill>
                  <a:latin typeface="Arial"/>
                  <a:ea typeface="Microsoft YaHei"/>
                  <a:cs typeface="Arial"/>
                </a:rPr>
                <a:t>DebugMate · V0.1 · 可追溯诊断工作流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28447" y="266224"/>
            <a:ext cx="11062713" cy="286226"/>
            <a:chOff x="528447" y="266224"/>
            <a:chExt cx="11062713" cy="286226"/>
          </a:xfrm>
        </p:grpSpPr>
        <p:sp>
          <p:nvSpPr>
            <p:cNvPr id="2" name="TextBox 2"/>
            <p:cNvSpPr txBox="1"/>
            <p:nvPr/>
          </p:nvSpPr>
          <p:spPr>
            <a:xfrm>
              <a:off x="528447" y="266224"/>
              <a:ext cx="102478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spc="150" dirty="0">
                  <a:solidFill>
                    <a:schemeClr val="accent2"/>
                  </a:solidFill>
                  <a:latin typeface="Arial"/>
                  <a:ea typeface="Arial"/>
                  <a:cs typeface="Arial"/>
                </a:rPr>
                <a:t>02 · SYSTEM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1139297" y="266224"/>
              <a:ext cx="4518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08087"/>
                  </a:solidFill>
                  <a:latin typeface="Consolas"/>
                  <a:ea typeface="Consolas"/>
                  <a:cs typeface="Consolas"/>
                </a:rPr>
                <a:t>06 / 15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33400" y="514350"/>
              <a:ext cx="304800" cy="381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</p:grpSp>
      <p:grpSp>
        <p:nvGrpSpPr>
          <p:cNvPr id="36" name="Group 36"/>
          <p:cNvGrpSpPr/>
          <p:nvPr/>
        </p:nvGrpSpPr>
        <p:grpSpPr>
          <a:xfrm>
            <a:off x="520446" y="724852"/>
            <a:ext cx="11138154" cy="6018562"/>
            <a:chOff x="520446" y="724852"/>
            <a:chExt cx="11138154" cy="6018562"/>
          </a:xfrm>
        </p:grpSpPr>
        <p:sp>
          <p:nvSpPr>
            <p:cNvPr id="6" name="TextBox 6"/>
            <p:cNvSpPr txBox="1"/>
            <p:nvPr/>
          </p:nvSpPr>
          <p:spPr>
            <a:xfrm>
              <a:off x="520446" y="724852"/>
              <a:ext cx="48318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1"/>
                  </a:solidFill>
                  <a:latin typeface="Arial"/>
                  <a:ea typeface="Microsoft YaHei"/>
                  <a:cs typeface="Arial"/>
                </a:rPr>
                <a:t>技术路线：云端增强，本地闭环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45973" y="1167289"/>
              <a:ext cx="46654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708087"/>
                  </a:solidFill>
                  <a:latin typeface="Arial"/>
                  <a:ea typeface="Microsoft YaHei"/>
                  <a:cs typeface="Arial"/>
                </a:rPr>
                <a:t>不是二选一，而是把不稳定的外部能力隔离在可验证边界之外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533400" y="1762125"/>
              <a:ext cx="7810500" cy="4000500"/>
            </a:xfrm>
            <a:prstGeom prst="roundRect">
              <a:avLst>
                <a:gd name="adj" fmla="val 4762"/>
              </a:avLst>
            </a:prstGeom>
            <a:solidFill>
              <a:srgbClr val="FFFFFF"/>
            </a:solidFill>
            <a:ln w="14288">
              <a:solidFill>
                <a:srgbClr val="C5D2CC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8572500" y="1762125"/>
              <a:ext cx="3086100" cy="4000500"/>
            </a:xfrm>
            <a:prstGeom prst="roundRect">
              <a:avLst>
                <a:gd name="adj" fmla="val 6173"/>
              </a:avLst>
            </a:prstGeom>
            <a:solidFill>
              <a:schemeClr val="accent1"/>
            </a:solidFill>
            <a:ln w="14288">
              <a:solidFill>
                <a:schemeClr val="accent1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7918" y="2031682"/>
              <a:ext cx="208487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2"/>
                  </a:solidFill>
                  <a:latin typeface="Arial"/>
                  <a:ea typeface="Microsoft YaHei"/>
                  <a:cs typeface="Arial"/>
                </a:rPr>
                <a:t>Dify Cloud · 增强层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70585" y="2402681"/>
              <a:ext cx="24727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708087"/>
                  </a:solidFill>
                  <a:latin typeface="Arial"/>
                  <a:ea typeface="Microsoft YaHei"/>
                  <a:cs typeface="Arial"/>
                </a:rPr>
                <a:t>视觉模型 / 知识检索 / LLM 工作流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67918" y="3155632"/>
              <a:ext cx="239830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3"/>
                  </a:solidFill>
                  <a:latin typeface="Arial"/>
                  <a:ea typeface="Microsoft YaHei"/>
                  <a:cs typeface="Arial"/>
                </a:rPr>
                <a:t>Local Python · 交付层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70585" y="3526631"/>
              <a:ext cx="34257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708087"/>
                  </a:solidFill>
                  <a:latin typeface="Arial"/>
                  <a:ea typeface="Microsoft YaHei"/>
                  <a:cs typeface="Arial"/>
                </a:rPr>
                <a:t>脱敏 / Pydantic / Pillow / TTS fallback / Gradio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876300" y="2762250"/>
              <a:ext cx="1428750" cy="457200"/>
            </a:xfrm>
            <a:prstGeom prst="roundRect">
              <a:avLst>
                <a:gd name="adj" fmla="val 25000"/>
              </a:avLst>
            </a:prstGeom>
            <a:solidFill>
              <a:srgbClr val="D9EEE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231964" y="2934652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chemeClr val="accent2"/>
                  </a:solidFill>
                  <a:latin typeface="Arial"/>
                  <a:ea typeface="Microsoft YaHei"/>
                  <a:cs typeface="Arial"/>
                </a:rPr>
                <a:t>上传与检索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562225" y="2762250"/>
              <a:ext cx="1428750" cy="457200"/>
            </a:xfrm>
            <a:prstGeom prst="roundRect">
              <a:avLst>
                <a:gd name="adj" fmla="val 25000"/>
              </a:avLst>
            </a:prstGeom>
            <a:solidFill>
              <a:srgbClr val="D9EEE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835532" y="2934652"/>
              <a:ext cx="8821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chemeClr val="accent2"/>
                  </a:solidFill>
                  <a:latin typeface="Arial"/>
                  <a:ea typeface="Microsoft YaHei"/>
                  <a:cs typeface="Arial"/>
                </a:rPr>
                <a:t>结构化 JSON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248150" y="4048125"/>
              <a:ext cx="1428750" cy="457200"/>
            </a:xfrm>
            <a:prstGeom prst="roundRect">
              <a:avLst>
                <a:gd name="adj" fmla="val 25000"/>
              </a:avLst>
            </a:prstGeom>
            <a:solidFill>
              <a:srgbClr val="FBE5DB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533138" y="4220528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chemeClr val="accent3"/>
                  </a:solidFill>
                  <a:latin typeface="Arial"/>
                  <a:ea typeface="Microsoft YaHei"/>
                  <a:cs typeface="Arial"/>
                </a:rPr>
                <a:t>本地严格校验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934075" y="4048125"/>
              <a:ext cx="1428750" cy="457200"/>
            </a:xfrm>
            <a:prstGeom prst="roundRect">
              <a:avLst>
                <a:gd name="adj" fmla="val 25000"/>
              </a:avLst>
            </a:prstGeom>
            <a:solidFill>
              <a:srgbClr val="FBE5D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219063" y="4220528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chemeClr val="accent3"/>
                  </a:solidFill>
                  <a:latin typeface="Arial"/>
                  <a:ea typeface="Microsoft YaHei"/>
                  <a:cs typeface="Arial"/>
                </a:rPr>
                <a:t>报告与多媒体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2219325" y="3219450"/>
              <a:ext cx="114300" cy="723900"/>
            </a:xfrm>
            <a:custGeom>
              <a:avLst/>
              <a:gdLst/>
              <a:ahLst/>
              <a:cxnLst/>
              <a:rect l="l" t="t" r="r" b="b"/>
              <a:pathLst>
                <a:path w="114300" h="723900">
                  <a:moveTo>
                    <a:pt x="114300" y="0"/>
                  </a:moveTo>
                  <a:lnTo>
                    <a:pt x="0" y="723900"/>
                  </a:lnTo>
                </a:path>
              </a:pathLst>
            </a:custGeom>
            <a:noFill/>
            <a:ln w="19050" cap="rnd">
              <a:solidFill>
                <a:schemeClr val="accent3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2190750" y="3876675"/>
              <a:ext cx="142875" cy="133350"/>
            </a:xfrm>
            <a:custGeom>
              <a:avLst/>
              <a:gdLst/>
              <a:ahLst/>
              <a:cxnLst/>
              <a:rect l="l" t="t" r="r" b="b"/>
              <a:pathLst>
                <a:path w="142875" h="133350">
                  <a:moveTo>
                    <a:pt x="0" y="0"/>
                  </a:moveTo>
                  <a:lnTo>
                    <a:pt x="142875" y="66675"/>
                  </a:lnTo>
                  <a:lnTo>
                    <a:pt x="0" y="133350"/>
                  </a:lnTo>
                </a:path>
              </a:pathLst>
            </a:custGeom>
            <a:noFill/>
            <a:ln w="19050" cap="rnd">
              <a:solidFill>
                <a:schemeClr val="accent3"/>
              </a:solidFill>
              <a:round/>
            </a:ln>
          </p:spPr>
        </p:sp>
        <p:sp>
          <p:nvSpPr>
            <p:cNvPr id="24" name="Line 24"/>
            <p:cNvSpPr/>
            <p:nvPr/>
          </p:nvSpPr>
          <p:spPr>
            <a:xfrm>
              <a:off x="5600700" y="3219450"/>
              <a:ext cx="114300" cy="723900"/>
            </a:xfrm>
            <a:custGeom>
              <a:avLst/>
              <a:gdLst/>
              <a:ahLst/>
              <a:cxnLst/>
              <a:rect l="l" t="t" r="r" b="b"/>
              <a:pathLst>
                <a:path w="114300" h="723900">
                  <a:moveTo>
                    <a:pt x="114300" y="0"/>
                  </a:moveTo>
                  <a:lnTo>
                    <a:pt x="0" y="723900"/>
                  </a:lnTo>
                </a:path>
              </a:pathLst>
            </a:custGeom>
            <a:noFill/>
            <a:ln w="19050" cap="rnd">
              <a:solidFill>
                <a:schemeClr val="accent3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5572125" y="3876675"/>
              <a:ext cx="142875" cy="133350"/>
            </a:xfrm>
            <a:custGeom>
              <a:avLst/>
              <a:gdLst/>
              <a:ahLst/>
              <a:cxnLst/>
              <a:rect l="l" t="t" r="r" b="b"/>
              <a:pathLst>
                <a:path w="142875" h="133350">
                  <a:moveTo>
                    <a:pt x="0" y="0"/>
                  </a:moveTo>
                  <a:lnTo>
                    <a:pt x="142875" y="66675"/>
                  </a:lnTo>
                  <a:lnTo>
                    <a:pt x="0" y="133350"/>
                  </a:lnTo>
                </a:path>
              </a:pathLst>
            </a:custGeom>
            <a:noFill/>
            <a:ln w="19050" cap="rnd">
              <a:solidFill>
                <a:schemeClr val="accent3"/>
              </a:solidFill>
              <a:round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887206" y="2139315"/>
              <a:ext cx="141999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Git · 事实源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889492" y="2664142"/>
              <a:ext cx="15857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D8E5E1"/>
                  </a:solidFill>
                  <a:latin typeface="Arial"/>
                  <a:ea typeface="Microsoft YaHei"/>
                  <a:cs typeface="Arial"/>
                </a:rPr>
                <a:t>知识源与 manifest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889492" y="3064192"/>
              <a:ext cx="117546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D8E5E1"/>
                  </a:solidFill>
                  <a:latin typeface="Arial"/>
                  <a:ea typeface="Microsoft YaHei"/>
                  <a:cs typeface="Arial"/>
                </a:rPr>
                <a:t>提示词 V1–V4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889492" y="3464242"/>
              <a:ext cx="7454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D8E5E1"/>
                  </a:solidFill>
                  <a:latin typeface="Arial"/>
                  <a:ea typeface="Arial"/>
                  <a:cs typeface="Arial"/>
                </a:rPr>
                <a:t>Dify DSL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889492" y="3864292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D8E5E1"/>
                  </a:solidFill>
                  <a:latin typeface="Arial"/>
                  <a:ea typeface="Microsoft YaHei"/>
                  <a:cs typeface="Arial"/>
                </a:rPr>
                <a:t>运行证据与哈希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889492" y="4264342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D8E5E1"/>
                  </a:solidFill>
                  <a:latin typeface="Arial"/>
                  <a:ea typeface="Microsoft YaHei"/>
                  <a:cs typeface="Arial"/>
                </a:rPr>
                <a:t>课程材料与脚本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8896350" y="4953000"/>
              <a:ext cx="2419350" cy="9525"/>
            </a:xfrm>
            <a:custGeom>
              <a:avLst/>
              <a:gdLst/>
              <a:ahLst/>
              <a:cxnLst/>
              <a:rect l="l" t="t" r="r" b="b"/>
              <a:pathLst>
                <a:path w="2419350" h="9525">
                  <a:moveTo>
                    <a:pt x="0" y="0"/>
                  </a:moveTo>
                  <a:lnTo>
                    <a:pt x="2419350" y="0"/>
                  </a:lnTo>
                </a:path>
              </a:pathLst>
            </a:custGeom>
            <a:noFill/>
            <a:ln w="9525">
              <a:solidFill>
                <a:srgbClr val="4D666A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890254" y="5156835"/>
              <a:ext cx="183763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BCE5DB"/>
                  </a:solidFill>
                  <a:latin typeface="Arial"/>
                  <a:ea typeface="Microsoft YaHei"/>
                  <a:cs typeface="Arial"/>
                </a:rPr>
                <a:t>可重建 · 可复核 · 可交接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533400" y="6429375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C5D2CC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28447" y="6552724"/>
              <a:ext cx="237796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08087"/>
                  </a:solidFill>
                  <a:latin typeface="Arial"/>
                  <a:ea typeface="Microsoft YaHei"/>
                  <a:cs typeface="Arial"/>
                </a:rPr>
                <a:t>DebugMate · V0.1 · 可追溯诊断工作流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28447" y="266224"/>
            <a:ext cx="11062713" cy="286226"/>
            <a:chOff x="528447" y="266224"/>
            <a:chExt cx="11062713" cy="286226"/>
          </a:xfrm>
        </p:grpSpPr>
        <p:sp>
          <p:nvSpPr>
            <p:cNvPr id="2" name="TextBox 2"/>
            <p:cNvSpPr txBox="1"/>
            <p:nvPr/>
          </p:nvSpPr>
          <p:spPr>
            <a:xfrm>
              <a:off x="528447" y="266224"/>
              <a:ext cx="102478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spc="150" dirty="0">
                  <a:solidFill>
                    <a:schemeClr val="accent2"/>
                  </a:solidFill>
                  <a:latin typeface="Arial"/>
                  <a:ea typeface="Arial"/>
                  <a:cs typeface="Arial"/>
                </a:rPr>
                <a:t>02 · SYSTEM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1139297" y="266224"/>
              <a:ext cx="4518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08087"/>
                  </a:solidFill>
                  <a:latin typeface="Consolas"/>
                  <a:ea typeface="Consolas"/>
                  <a:cs typeface="Consolas"/>
                </a:rPr>
                <a:t>07 / 15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33400" y="514350"/>
              <a:ext cx="304800" cy="381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</p:grpSp>
      <p:grpSp>
        <p:nvGrpSpPr>
          <p:cNvPr id="40" name="Group 40"/>
          <p:cNvGrpSpPr/>
          <p:nvPr/>
        </p:nvGrpSpPr>
        <p:grpSpPr>
          <a:xfrm>
            <a:off x="520446" y="724852"/>
            <a:ext cx="11138154" cy="6018562"/>
            <a:chOff x="520446" y="724852"/>
            <a:chExt cx="11138154" cy="6018562"/>
          </a:xfrm>
        </p:grpSpPr>
        <p:sp>
          <p:nvSpPr>
            <p:cNvPr id="6" name="TextBox 6"/>
            <p:cNvSpPr txBox="1"/>
            <p:nvPr/>
          </p:nvSpPr>
          <p:spPr>
            <a:xfrm>
              <a:off x="520446" y="724852"/>
              <a:ext cx="675397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1"/>
                  </a:solidFill>
                  <a:latin typeface="Arial"/>
                  <a:ea typeface="Microsoft YaHei"/>
                  <a:cs typeface="Arial"/>
                </a:rPr>
                <a:t>系统架构：DiagnosisRecord 是单一事实源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45973" y="1167289"/>
              <a:ext cx="43207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708087"/>
                  </a:solidFill>
                  <a:latin typeface="Arial"/>
                  <a:ea typeface="Microsoft YaHei"/>
                  <a:cs typeface="Arial"/>
                </a:rPr>
                <a:t>三种媒体不是三个答案，而是一个结构化对象的不同投影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533400" y="2038350"/>
              <a:ext cx="2667000" cy="2762250"/>
            </a:xfrm>
            <a:prstGeom prst="roundRect">
              <a:avLst>
                <a:gd name="adj" fmla="val 6429"/>
              </a:avLst>
            </a:prstGeom>
            <a:solidFill>
              <a:srgbClr val="FFFFFF"/>
            </a:solidFill>
            <a:ln w="14288">
              <a:solidFill>
                <a:srgbClr val="C5D2CC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11149" y="2258854"/>
              <a:ext cx="107950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2"/>
                  </a:solidFill>
                  <a:latin typeface="Arial"/>
                  <a:ea typeface="Microsoft YaHei"/>
                  <a:cs typeface="Arial"/>
                </a:rPr>
                <a:t>输入与证据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12292" y="2759392"/>
              <a:ext cx="10132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Arial"/>
                  <a:ea typeface="Arial"/>
                  <a:cs typeface="Arial"/>
                </a:rPr>
                <a:t>error_text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12292" y="3130868"/>
              <a:ext cx="17129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Arial"/>
                  <a:ea typeface="Arial"/>
                  <a:cs typeface="Arial"/>
                </a:rPr>
                <a:t>code / environment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12292" y="3502342"/>
              <a:ext cx="14130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Arial"/>
                  <a:ea typeface="Arial"/>
                  <a:cs typeface="Arial"/>
                </a:rPr>
                <a:t>observed_facts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12292" y="3873818"/>
              <a:ext cx="15584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Arial"/>
                  <a:ea typeface="Arial"/>
                  <a:cs typeface="Arial"/>
                </a:rPr>
                <a:t>knowledge chunks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12292" y="4245292"/>
              <a:ext cx="12222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Arial"/>
                  <a:ea typeface="Arial"/>
                  <a:cs typeface="Arial"/>
                </a:rPr>
                <a:t>support_links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3810000" y="1619250"/>
              <a:ext cx="4572000" cy="3619500"/>
            </a:xfrm>
            <a:prstGeom prst="roundRect">
              <a:avLst>
                <a:gd name="adj" fmla="val 6316"/>
              </a:avLst>
            </a:prstGeom>
            <a:solidFill>
              <a:schemeClr val="accent1"/>
            </a:solidFill>
            <a:ln w="14288">
              <a:solidFill>
                <a:schemeClr val="accent1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182237" y="2023586"/>
              <a:ext cx="1915955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BCE5DB"/>
                  </a:solidFill>
                  <a:latin typeface="Cascadia Mono"/>
                  <a:ea typeface="Cascadia Mono"/>
                  <a:cs typeface="Cascadia Mono"/>
                </a:rPr>
                <a:t>DiagnosisRecord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183380" y="2409825"/>
              <a:ext cx="22839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schema_version 1.1.0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191000" y="2876550"/>
              <a:ext cx="3524250" cy="266700"/>
            </a:xfrm>
            <a:prstGeom prst="roundRect">
              <a:avLst>
                <a:gd name="adj" fmla="val 28571"/>
              </a:avLst>
            </a:prstGeom>
            <a:solidFill>
              <a:srgbClr val="26384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356735" y="2945606"/>
              <a:ext cx="5542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D8E5E1"/>
                  </a:solidFill>
                  <a:latin typeface="Cascadia Mono"/>
                  <a:ea typeface="Cascadia Mono"/>
                  <a:cs typeface="Cascadia Mono"/>
                </a:rPr>
                <a:t>case_id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4191000" y="3238500"/>
              <a:ext cx="3524250" cy="266700"/>
            </a:xfrm>
            <a:prstGeom prst="roundRect">
              <a:avLst>
                <a:gd name="adj" fmla="val 28571"/>
              </a:avLst>
            </a:prstGeom>
            <a:solidFill>
              <a:srgbClr val="263841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356735" y="3307556"/>
              <a:ext cx="17151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D8E5E1"/>
                  </a:solidFill>
                  <a:latin typeface="Cascadia Mono"/>
                  <a:ea typeface="Cascadia Mono"/>
                  <a:cs typeface="Cascadia Mono"/>
                </a:rPr>
                <a:t>root_cause_candidates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4191000" y="3600450"/>
              <a:ext cx="3524250" cy="266700"/>
            </a:xfrm>
            <a:prstGeom prst="roundRect">
              <a:avLst>
                <a:gd name="adj" fmla="val 28571"/>
              </a:avLst>
            </a:prstGeom>
            <a:solidFill>
              <a:srgbClr val="263841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356735" y="3669506"/>
              <a:ext cx="50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D8E5E1"/>
                  </a:solidFill>
                  <a:latin typeface="Cascadia Mono"/>
                  <a:ea typeface="Cascadia Mono"/>
                  <a:cs typeface="Cascadia Mono"/>
                </a:rPr>
                <a:t>checks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4191000" y="3962400"/>
              <a:ext cx="3524250" cy="266700"/>
            </a:xfrm>
            <a:prstGeom prst="roundRect">
              <a:avLst>
                <a:gd name="adj" fmla="val 28571"/>
              </a:avLst>
            </a:prstGeom>
            <a:solidFill>
              <a:srgbClr val="263841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356735" y="4031456"/>
              <a:ext cx="13910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D8E5E1"/>
                  </a:solidFill>
                  <a:latin typeface="Cascadia Mono"/>
                  <a:ea typeface="Cascadia Mono"/>
                  <a:cs typeface="Cascadia Mono"/>
                </a:rPr>
                <a:t>verification_steps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4191000" y="4324350"/>
              <a:ext cx="3524250" cy="266700"/>
            </a:xfrm>
            <a:prstGeom prst="roundRect">
              <a:avLst>
                <a:gd name="adj" fmla="val 28571"/>
              </a:avLst>
            </a:prstGeom>
            <a:solidFill>
              <a:srgbClr val="263841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356735" y="4393406"/>
              <a:ext cx="8029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D8E5E1"/>
                  </a:solidFill>
                  <a:latin typeface="Cascadia Mono"/>
                  <a:ea typeface="Cascadia Mono"/>
                  <a:cs typeface="Cascadia Mono"/>
                </a:rPr>
                <a:t>limitations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8991600" y="2038350"/>
              <a:ext cx="2667000" cy="2762250"/>
            </a:xfrm>
            <a:prstGeom prst="roundRect">
              <a:avLst>
                <a:gd name="adj" fmla="val 6429"/>
              </a:avLst>
            </a:prstGeom>
            <a:solidFill>
              <a:srgbClr val="FFFFFF"/>
            </a:solidFill>
            <a:ln w="14288">
              <a:solidFill>
                <a:srgbClr val="C5D2CC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269349" y="2258854"/>
              <a:ext cx="86680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3"/>
                  </a:solidFill>
                  <a:latin typeface="Arial"/>
                  <a:ea typeface="Microsoft YaHei"/>
                  <a:cs typeface="Arial"/>
                </a:rPr>
                <a:t>派生结果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270492" y="2759392"/>
              <a:ext cx="15464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Arial"/>
                  <a:ea typeface="Arial"/>
                  <a:cs typeface="Arial"/>
                </a:rPr>
                <a:t>Markdown report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270492" y="3188018"/>
              <a:ext cx="19364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Arial"/>
                  <a:ea typeface="Arial"/>
                  <a:cs typeface="Arial"/>
                </a:rPr>
                <a:t>Pillow diagnostic card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270492" y="3616642"/>
              <a:ext cx="9186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Arial"/>
                  <a:ea typeface="Arial"/>
                  <a:cs typeface="Arial"/>
                </a:rPr>
                <a:t>MP3 recap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270492" y="4045268"/>
              <a:ext cx="12870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Arial"/>
                  <a:ea typeface="Arial"/>
                  <a:cs typeface="Arial"/>
                </a:rPr>
                <a:t>ZIP + manifest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3257550" y="3429000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28575" cap="rnd">
              <a:solidFill>
                <a:schemeClr val="accent2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3571875" y="3362325"/>
              <a:ext cx="142875" cy="133350"/>
            </a:xfrm>
            <a:custGeom>
              <a:avLst/>
              <a:gdLst/>
              <a:ahLst/>
              <a:cxnLst/>
              <a:rect l="l" t="t" r="r" b="b"/>
              <a:pathLst>
                <a:path w="142875" h="133350">
                  <a:moveTo>
                    <a:pt x="0" y="0"/>
                  </a:moveTo>
                  <a:lnTo>
                    <a:pt x="142875" y="66675"/>
                  </a:lnTo>
                  <a:lnTo>
                    <a:pt x="0" y="133350"/>
                  </a:lnTo>
                </a:path>
              </a:pathLst>
            </a:custGeom>
            <a:noFill/>
            <a:ln w="28575" cap="rnd">
              <a:solidFill>
                <a:schemeClr val="accent2"/>
              </a:solidFill>
              <a:round/>
            </a:ln>
          </p:spPr>
        </p:sp>
        <p:sp>
          <p:nvSpPr>
            <p:cNvPr id="36" name="Line 36"/>
            <p:cNvSpPr/>
            <p:nvPr/>
          </p:nvSpPr>
          <p:spPr>
            <a:xfrm>
              <a:off x="8458200" y="3429000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28575" cap="rnd">
              <a:solidFill>
                <a:schemeClr val="accent3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8772525" y="3362325"/>
              <a:ext cx="142875" cy="133350"/>
            </a:xfrm>
            <a:custGeom>
              <a:avLst/>
              <a:gdLst/>
              <a:ahLst/>
              <a:cxnLst/>
              <a:rect l="l" t="t" r="r" b="b"/>
              <a:pathLst>
                <a:path w="142875" h="133350">
                  <a:moveTo>
                    <a:pt x="0" y="0"/>
                  </a:moveTo>
                  <a:lnTo>
                    <a:pt x="142875" y="66675"/>
                  </a:lnTo>
                  <a:lnTo>
                    <a:pt x="0" y="133350"/>
                  </a:lnTo>
                </a:path>
              </a:pathLst>
            </a:custGeom>
            <a:noFill/>
            <a:ln w="28575" cap="rnd">
              <a:solidFill>
                <a:schemeClr val="accent3"/>
              </a:solidFill>
              <a:round/>
            </a:ln>
          </p:spPr>
        </p:sp>
        <p:sp>
          <p:nvSpPr>
            <p:cNvPr id="38" name="Line 38"/>
            <p:cNvSpPr/>
            <p:nvPr/>
          </p:nvSpPr>
          <p:spPr>
            <a:xfrm>
              <a:off x="533400" y="6429375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C5D2CC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28447" y="6552724"/>
              <a:ext cx="237796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08087"/>
                  </a:solidFill>
                  <a:latin typeface="Arial"/>
                  <a:ea typeface="Microsoft YaHei"/>
                  <a:cs typeface="Arial"/>
                </a:rPr>
                <a:t>DebugMate · V0.1 · 可追溯诊断工作流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28447" y="266224"/>
            <a:ext cx="11062713" cy="286226"/>
            <a:chOff x="528447" y="266224"/>
            <a:chExt cx="11062713" cy="286226"/>
          </a:xfrm>
        </p:grpSpPr>
        <p:sp>
          <p:nvSpPr>
            <p:cNvPr id="2" name="TextBox 2"/>
            <p:cNvSpPr txBox="1"/>
            <p:nvPr/>
          </p:nvSpPr>
          <p:spPr>
            <a:xfrm>
              <a:off x="528447" y="266224"/>
              <a:ext cx="115806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spc="150" dirty="0">
                  <a:solidFill>
                    <a:schemeClr val="accent2"/>
                  </a:solidFill>
                  <a:latin typeface="Arial"/>
                  <a:ea typeface="Arial"/>
                  <a:cs typeface="Arial"/>
                </a:rPr>
                <a:t>02 · EVIDENCE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1139297" y="266224"/>
              <a:ext cx="4518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08087"/>
                  </a:solidFill>
                  <a:latin typeface="Consolas"/>
                  <a:ea typeface="Consolas"/>
                  <a:cs typeface="Consolas"/>
                </a:rPr>
                <a:t>08 / 15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33400" y="514350"/>
              <a:ext cx="304800" cy="381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</p:grpSp>
      <p:grpSp>
        <p:nvGrpSpPr>
          <p:cNvPr id="56" name="Group 56"/>
          <p:cNvGrpSpPr/>
          <p:nvPr/>
        </p:nvGrpSpPr>
        <p:grpSpPr>
          <a:xfrm>
            <a:off x="520446" y="724852"/>
            <a:ext cx="11138154" cy="6018562"/>
            <a:chOff x="520446" y="724852"/>
            <a:chExt cx="11138154" cy="6018562"/>
          </a:xfrm>
        </p:grpSpPr>
        <p:sp>
          <p:nvSpPr>
            <p:cNvPr id="6" name="TextBox 6"/>
            <p:cNvSpPr txBox="1"/>
            <p:nvPr/>
          </p:nvSpPr>
          <p:spPr>
            <a:xfrm>
              <a:off x="520446" y="724852"/>
              <a:ext cx="430662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1"/>
                  </a:solidFill>
                  <a:latin typeface="Arial"/>
                  <a:ea typeface="Microsoft YaHei"/>
                  <a:cs typeface="Arial"/>
                </a:rPr>
                <a:t>专属知识库：17 个官方来源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45973" y="1167289"/>
              <a:ext cx="537483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708087"/>
                  </a:solidFill>
                  <a:latin typeface="Arial"/>
                  <a:ea typeface="Microsoft YaHei"/>
                  <a:cs typeface="Arial"/>
                </a:rPr>
                <a:t>检索不是装饰：来源、版本范围、内容哈希和构建 ID 都进入证据链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533400" y="1790700"/>
              <a:ext cx="2667000" cy="609600"/>
            </a:xfrm>
            <a:prstGeom prst="roundRect">
              <a:avLst>
                <a:gd name="adj" fmla="val 21875"/>
              </a:avLst>
            </a:prstGeom>
            <a:solidFill>
              <a:srgbClr val="FFFFFF"/>
            </a:solidFill>
            <a:ln w="14288">
              <a:solidFill>
                <a:srgbClr val="C5D2CC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533400" y="1790700"/>
              <a:ext cx="66675" cy="609600"/>
            </a:xfrm>
            <a:prstGeom prst="roundRect">
              <a:avLst>
                <a:gd name="adj" fmla="val 42857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55523" y="1910239"/>
              <a:ext cx="101832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1"/>
                  </a:solidFill>
                  <a:latin typeface="Arial"/>
                  <a:ea typeface="Microsoft YaHei"/>
                  <a:cs typeface="Arial"/>
                </a:rPr>
                <a:t>Python 异常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7047" y="2152174"/>
              <a:ext cx="10852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08087"/>
                  </a:solidFill>
                  <a:latin typeface="Arial"/>
                  <a:ea typeface="Microsoft YaHei"/>
                  <a:cs typeface="Arial"/>
                </a:rPr>
                <a:t>导入 / Traceback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3486150" y="1790700"/>
              <a:ext cx="2667000" cy="609600"/>
            </a:xfrm>
            <a:prstGeom prst="roundRect">
              <a:avLst>
                <a:gd name="adj" fmla="val 21875"/>
              </a:avLst>
            </a:prstGeom>
            <a:solidFill>
              <a:srgbClr val="FFFFFF"/>
            </a:solidFill>
            <a:ln w="14288">
              <a:solidFill>
                <a:srgbClr val="C5D2CC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3486150" y="1790700"/>
              <a:ext cx="66675" cy="609600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3708273" y="1910239"/>
              <a:ext cx="8723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1"/>
                  </a:solidFill>
                  <a:latin typeface="Arial"/>
                  <a:ea typeface="Arial"/>
                  <a:cs typeface="Arial"/>
                </a:rPr>
                <a:t>pip / venv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709797" y="2152174"/>
              <a:ext cx="68933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08087"/>
                  </a:solidFill>
                  <a:latin typeface="Arial"/>
                  <a:ea typeface="Microsoft YaHei"/>
                  <a:cs typeface="Arial"/>
                </a:rPr>
                <a:t>环境 / 依赖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609850"/>
              <a:ext cx="2667000" cy="609600"/>
            </a:xfrm>
            <a:prstGeom prst="roundRect">
              <a:avLst>
                <a:gd name="adj" fmla="val 21875"/>
              </a:avLst>
            </a:prstGeom>
            <a:solidFill>
              <a:srgbClr val="FFFFFF"/>
            </a:solidFill>
            <a:ln w="14288">
              <a:solidFill>
                <a:srgbClr val="C5D2CC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609850"/>
              <a:ext cx="66675" cy="609600"/>
            </a:xfrm>
            <a:prstGeom prst="roundRect">
              <a:avLst>
                <a:gd name="adj" fmla="val 42857"/>
              </a:avLst>
            </a:prstGeom>
            <a:solidFill>
              <a:srgbClr val="6D7BB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55523" y="2729389"/>
              <a:ext cx="72079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1"/>
                  </a:solidFill>
                  <a:latin typeface="Arial"/>
                  <a:ea typeface="Arial"/>
                  <a:cs typeface="Arial"/>
                </a:rPr>
                <a:t>PyTorch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57047" y="2971324"/>
              <a:ext cx="8212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08087"/>
                  </a:solidFill>
                  <a:latin typeface="Arial"/>
                  <a:ea typeface="Microsoft YaHei"/>
                  <a:cs typeface="Arial"/>
                </a:rPr>
                <a:t>张量 / 序列化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3486150" y="2609850"/>
              <a:ext cx="2667000" cy="609600"/>
            </a:xfrm>
            <a:prstGeom prst="roundRect">
              <a:avLst>
                <a:gd name="adj" fmla="val 21875"/>
              </a:avLst>
            </a:prstGeom>
            <a:solidFill>
              <a:srgbClr val="FFFFFF"/>
            </a:solidFill>
            <a:ln w="14288">
              <a:solidFill>
                <a:srgbClr val="C5D2CC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3486150" y="2609850"/>
              <a:ext cx="66675" cy="609600"/>
            </a:xfrm>
            <a:prstGeom prst="roundRect">
              <a:avLst>
                <a:gd name="adj" fmla="val 42857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708273" y="2729389"/>
              <a:ext cx="43352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1"/>
                  </a:solidFill>
                  <a:latin typeface="Arial"/>
                  <a:ea typeface="Arial"/>
                  <a:cs typeface="Arial"/>
                </a:rPr>
                <a:t>CUDA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709797" y="2971324"/>
              <a:ext cx="68933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08087"/>
                  </a:solidFill>
                  <a:latin typeface="Arial"/>
                  <a:ea typeface="Microsoft YaHei"/>
                  <a:cs typeface="Arial"/>
                </a:rPr>
                <a:t>显存 / 设备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3429000"/>
              <a:ext cx="2667000" cy="609600"/>
            </a:xfrm>
            <a:prstGeom prst="roundRect">
              <a:avLst>
                <a:gd name="adj" fmla="val 21875"/>
              </a:avLst>
            </a:prstGeom>
            <a:solidFill>
              <a:srgbClr val="FFFFFF"/>
            </a:solidFill>
            <a:ln w="14288">
              <a:solidFill>
                <a:srgbClr val="C5D2CC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533400" y="3429000"/>
              <a:ext cx="66675" cy="609600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55523" y="3548539"/>
              <a:ext cx="11279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1"/>
                  </a:solidFill>
                  <a:latin typeface="Arial"/>
                  <a:ea typeface="Arial"/>
                  <a:cs typeface="Arial"/>
                </a:rPr>
                <a:t>Hugging Face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57047" y="3790474"/>
              <a:ext cx="6551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08087"/>
                  </a:solidFill>
                  <a:latin typeface="Arial"/>
                  <a:ea typeface="Microsoft YaHei"/>
                  <a:cs typeface="Arial"/>
                </a:rPr>
                <a:t>模型 / Hub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3486150" y="3429000"/>
              <a:ext cx="2667000" cy="609600"/>
            </a:xfrm>
            <a:prstGeom prst="roundRect">
              <a:avLst>
                <a:gd name="adj" fmla="val 21875"/>
              </a:avLst>
            </a:prstGeom>
            <a:solidFill>
              <a:srgbClr val="FFFFFF"/>
            </a:solidFill>
            <a:ln w="14288">
              <a:solidFill>
                <a:srgbClr val="C5D2CC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3486150" y="3429000"/>
              <a:ext cx="66675" cy="609600"/>
            </a:xfrm>
            <a:prstGeom prst="roundRect">
              <a:avLst>
                <a:gd name="adj" fmla="val 42857"/>
              </a:avLst>
            </a:prstGeom>
            <a:solidFill>
              <a:srgbClr val="6D7BB8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3708273" y="3548539"/>
              <a:ext cx="97681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1"/>
                  </a:solidFill>
                  <a:latin typeface="Arial"/>
                  <a:ea typeface="Arial"/>
                  <a:cs typeface="Arial"/>
                </a:rPr>
                <a:t>Ultralytics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709797" y="3790474"/>
              <a:ext cx="68933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08087"/>
                  </a:solidFill>
                  <a:latin typeface="Arial"/>
                  <a:ea typeface="Microsoft YaHei"/>
                  <a:cs typeface="Arial"/>
                </a:rPr>
                <a:t>训练 / 预测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4248150"/>
              <a:ext cx="2667000" cy="609600"/>
            </a:xfrm>
            <a:prstGeom prst="roundRect">
              <a:avLst>
                <a:gd name="adj" fmla="val 21875"/>
              </a:avLst>
            </a:prstGeom>
            <a:solidFill>
              <a:srgbClr val="FFFFFF"/>
            </a:solidFill>
            <a:ln w="14288">
              <a:solidFill>
                <a:srgbClr val="C5D2CC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533400" y="4248150"/>
              <a:ext cx="66675" cy="609600"/>
            </a:xfrm>
            <a:prstGeom prst="roundRect">
              <a:avLst>
                <a:gd name="adj" fmla="val 42857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55523" y="4367689"/>
              <a:ext cx="74252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1"/>
                  </a:solidFill>
                  <a:latin typeface="Arial"/>
                  <a:ea typeface="Arial"/>
                  <a:cs typeface="Arial"/>
                </a:rPr>
                <a:t>Windows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57047" y="4609624"/>
              <a:ext cx="116525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08087"/>
                  </a:solidFill>
                  <a:latin typeface="Arial"/>
                  <a:ea typeface="Arial"/>
                  <a:cs typeface="Arial"/>
                </a:rPr>
                <a:t>PATH / PowerShell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953250" y="1790700"/>
              <a:ext cx="4705350" cy="3143250"/>
            </a:xfrm>
            <a:prstGeom prst="roundRect">
              <a:avLst>
                <a:gd name="adj" fmla="val 6061"/>
              </a:avLst>
            </a:prstGeom>
            <a:solidFill>
              <a:schemeClr val="accent1"/>
            </a:solidFill>
            <a:ln w="14288">
              <a:solidFill>
                <a:schemeClr val="accent1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288149" y="2077879"/>
              <a:ext cx="2781097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BCE5DB"/>
                  </a:solidFill>
                  <a:latin typeface="Arial"/>
                  <a:ea typeface="Microsoft YaHei"/>
                  <a:cs typeface="Arial"/>
                </a:rPr>
                <a:t>一次命中，至少回答四个问题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7277100" y="2562225"/>
              <a:ext cx="190500" cy="19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307008" y="2598420"/>
              <a:ext cx="1306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✓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594473" y="2586514"/>
              <a:ext cx="15150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来源 URL 是什么？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7277100" y="3019425"/>
              <a:ext cx="190500" cy="19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307008" y="3055620"/>
              <a:ext cx="1306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✓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594473" y="3043714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适用的版本范围是什么？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7277100" y="3476625"/>
              <a:ext cx="190500" cy="19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307008" y="3512820"/>
              <a:ext cx="1306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✓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594473" y="3500914"/>
              <a:ext cx="26148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命中的 chunk / locator 在哪里？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7277100" y="3933825"/>
              <a:ext cx="190500" cy="19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307008" y="3970020"/>
              <a:ext cx="1306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✓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594473" y="3958114"/>
              <a:ext cx="283889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是否绑定当前 knowledge_build_id？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290816" y="4439602"/>
              <a:ext cx="22722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6C2AF"/>
                  </a:solidFill>
                  <a:latin typeface="Cascadia Mono"/>
                  <a:ea typeface="Cascadia Mono"/>
                  <a:cs typeface="Cascadia Mono"/>
                </a:rPr>
                <a:t>knowledge_build_id: e8e065…71ff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533400" y="4686300"/>
              <a:ext cx="5619750" cy="704850"/>
            </a:xfrm>
            <a:prstGeom prst="roundRect">
              <a:avLst>
                <a:gd name="adj" fmla="val 21622"/>
              </a:avLst>
            </a:prstGeom>
            <a:solidFill>
              <a:srgbClr val="FBE5DB"/>
            </a:solidFill>
            <a:ln w="14288">
              <a:solidFill>
                <a:srgbClr val="F0C4B4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94004" y="4861560"/>
              <a:ext cx="11765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3"/>
                  </a:solidFill>
                  <a:latin typeface="Arial"/>
                  <a:ea typeface="Microsoft YaHei"/>
                  <a:cs typeface="Arial"/>
                </a:rPr>
                <a:t>无命中 ≠ 可以猜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94385" y="5107781"/>
              <a:ext cx="28761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证据不足时，诊断必须明确记录缺失信息。</a:t>
              </a:r>
            </a:p>
          </p:txBody>
        </p:sp>
        <p:sp>
          <p:nvSpPr>
            <p:cNvPr id="54" name="Line 54"/>
            <p:cNvSpPr/>
            <p:nvPr/>
          </p:nvSpPr>
          <p:spPr>
            <a:xfrm>
              <a:off x="533400" y="6429375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C5D2CC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528447" y="6552724"/>
              <a:ext cx="237796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08087"/>
                  </a:solidFill>
                  <a:latin typeface="Arial"/>
                  <a:ea typeface="Microsoft YaHei"/>
                  <a:cs typeface="Arial"/>
                </a:rPr>
                <a:t>DebugMate · V0.1 · 可追溯诊断工作流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28447" y="266224"/>
            <a:ext cx="11062713" cy="286226"/>
            <a:chOff x="528447" y="266224"/>
            <a:chExt cx="11062713" cy="286226"/>
          </a:xfrm>
        </p:grpSpPr>
        <p:sp>
          <p:nvSpPr>
            <p:cNvPr id="2" name="TextBox 2"/>
            <p:cNvSpPr txBox="1"/>
            <p:nvPr/>
          </p:nvSpPr>
          <p:spPr>
            <a:xfrm>
              <a:off x="528447" y="266224"/>
              <a:ext cx="9969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spc="150" dirty="0">
                  <a:solidFill>
                    <a:schemeClr val="accent2"/>
                  </a:solidFill>
                  <a:latin typeface="Arial"/>
                  <a:ea typeface="Arial"/>
                  <a:cs typeface="Arial"/>
                </a:rPr>
                <a:t>02 · SAFETY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1139297" y="266224"/>
              <a:ext cx="4518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08087"/>
                  </a:solidFill>
                  <a:latin typeface="Consolas"/>
                  <a:ea typeface="Consolas"/>
                  <a:cs typeface="Consolas"/>
                </a:rPr>
                <a:t>09 / 15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33400" y="514350"/>
              <a:ext cx="304800" cy="381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</p:grpSp>
      <p:grpSp>
        <p:nvGrpSpPr>
          <p:cNvPr id="36" name="Group 36"/>
          <p:cNvGrpSpPr/>
          <p:nvPr/>
        </p:nvGrpSpPr>
        <p:grpSpPr>
          <a:xfrm>
            <a:off x="520446" y="724852"/>
            <a:ext cx="11138154" cy="6018562"/>
            <a:chOff x="520446" y="724852"/>
            <a:chExt cx="11138154" cy="6018562"/>
          </a:xfrm>
        </p:grpSpPr>
        <p:sp>
          <p:nvSpPr>
            <p:cNvPr id="6" name="TextBox 6"/>
            <p:cNvSpPr txBox="1"/>
            <p:nvPr/>
          </p:nvSpPr>
          <p:spPr>
            <a:xfrm>
              <a:off x="520446" y="724852"/>
              <a:ext cx="414528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1"/>
                  </a:solidFill>
                  <a:latin typeface="Arial"/>
                  <a:ea typeface="Microsoft YaHei"/>
                  <a:cs typeface="Arial"/>
                </a:rPr>
                <a:t>隐私闸门：先确认，再上传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45973" y="1167289"/>
              <a:ext cx="44931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708087"/>
                  </a:solidFill>
                  <a:latin typeface="Arial"/>
                  <a:ea typeface="Microsoft YaHei"/>
                  <a:cs typeface="Arial"/>
                </a:rPr>
                <a:t>脱敏不是后台黑盒动作，而是用户可见、可确认的交互门禁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533400" y="2000250"/>
              <a:ext cx="2362200" cy="1504950"/>
            </a:xfrm>
            <a:prstGeom prst="roundRect">
              <a:avLst>
                <a:gd name="adj" fmla="val 11392"/>
              </a:avLst>
            </a:prstGeom>
            <a:solidFill>
              <a:srgbClr val="FFFFFF"/>
            </a:solidFill>
            <a:ln w="14288">
              <a:solidFill>
                <a:srgbClr val="C5D2CC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33044" y="2170748"/>
              <a:ext cx="32301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01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34949" y="2668429"/>
              <a:ext cx="86680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1"/>
                  </a:solidFill>
                  <a:latin typeface="Arial"/>
                  <a:ea typeface="Microsoft YaHei"/>
                  <a:cs typeface="Arial"/>
                </a:rPr>
                <a:t>本机校验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37235" y="302180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检查输入完整性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2952750" y="2752725"/>
              <a:ext cx="171450" cy="9525"/>
            </a:xfrm>
            <a:custGeom>
              <a:avLst/>
              <a:gdLst/>
              <a:ahLst/>
              <a:cxnLst/>
              <a:rect l="l" t="t" r="r" b="b"/>
              <a:pathLst>
                <a:path w="171450" h="9525">
                  <a:moveTo>
                    <a:pt x="0" y="0"/>
                  </a:moveTo>
                  <a:lnTo>
                    <a:pt x="171450" y="0"/>
                  </a:lnTo>
                </a:path>
              </a:pathLst>
            </a:custGeom>
            <a:noFill/>
            <a:ln w="19050" cap="rnd">
              <a:solidFill>
                <a:schemeClr val="accent2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3095625" y="2686050"/>
              <a:ext cx="142875" cy="133350"/>
            </a:xfrm>
            <a:custGeom>
              <a:avLst/>
              <a:gdLst/>
              <a:ahLst/>
              <a:cxnLst/>
              <a:rect l="l" t="t" r="r" b="b"/>
              <a:pathLst>
                <a:path w="142875" h="133350">
                  <a:moveTo>
                    <a:pt x="0" y="0"/>
                  </a:moveTo>
                  <a:lnTo>
                    <a:pt x="142875" y="66675"/>
                  </a:lnTo>
                  <a:lnTo>
                    <a:pt x="0" y="133350"/>
                  </a:lnTo>
                </a:path>
              </a:pathLst>
            </a:custGeom>
            <a:noFill/>
            <a:ln w="19050" cap="rnd">
              <a:solidFill>
                <a:schemeClr val="accent2"/>
              </a:solidFill>
              <a:round/>
            </a:ln>
          </p:spPr>
        </p:sp>
        <p:sp>
          <p:nvSpPr>
            <p:cNvPr id="14" name="Rectangle 14"/>
            <p:cNvSpPr/>
            <p:nvPr/>
          </p:nvSpPr>
          <p:spPr>
            <a:xfrm>
              <a:off x="3314700" y="2000250"/>
              <a:ext cx="2362200" cy="1504950"/>
            </a:xfrm>
            <a:prstGeom prst="roundRect">
              <a:avLst>
                <a:gd name="adj" fmla="val 11392"/>
              </a:avLst>
            </a:prstGeom>
            <a:solidFill>
              <a:srgbClr val="FFFFFF"/>
            </a:solidFill>
            <a:ln w="14288">
              <a:solidFill>
                <a:srgbClr val="C5D2CC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514344" y="2170748"/>
              <a:ext cx="32301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02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516249" y="2668429"/>
              <a:ext cx="107950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1"/>
                  </a:solidFill>
                  <a:latin typeface="Arial"/>
                  <a:ea typeface="Microsoft YaHei"/>
                  <a:cs typeface="Arial"/>
                </a:rPr>
                <a:t>发现敏感项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518535" y="3021806"/>
              <a:ext cx="8079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OCR + 正则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5734050" y="2752725"/>
              <a:ext cx="171450" cy="9525"/>
            </a:xfrm>
            <a:custGeom>
              <a:avLst/>
              <a:gdLst/>
              <a:ahLst/>
              <a:cxnLst/>
              <a:rect l="l" t="t" r="r" b="b"/>
              <a:pathLst>
                <a:path w="171450" h="9525">
                  <a:moveTo>
                    <a:pt x="0" y="0"/>
                  </a:moveTo>
                  <a:lnTo>
                    <a:pt x="171450" y="0"/>
                  </a:lnTo>
                </a:path>
              </a:pathLst>
            </a:custGeom>
            <a:noFill/>
            <a:ln w="19050" cap="rnd">
              <a:solidFill>
                <a:schemeClr val="accent3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5876925" y="2686050"/>
              <a:ext cx="142875" cy="133350"/>
            </a:xfrm>
            <a:custGeom>
              <a:avLst/>
              <a:gdLst/>
              <a:ahLst/>
              <a:cxnLst/>
              <a:rect l="l" t="t" r="r" b="b"/>
              <a:pathLst>
                <a:path w="142875" h="133350">
                  <a:moveTo>
                    <a:pt x="0" y="0"/>
                  </a:moveTo>
                  <a:lnTo>
                    <a:pt x="142875" y="66675"/>
                  </a:lnTo>
                  <a:lnTo>
                    <a:pt x="0" y="133350"/>
                  </a:lnTo>
                </a:path>
              </a:pathLst>
            </a:custGeom>
            <a:noFill/>
            <a:ln w="19050" cap="rnd">
              <a:solidFill>
                <a:schemeClr val="accent3"/>
              </a:solidFill>
              <a:round/>
            </a:ln>
          </p:spPr>
        </p:sp>
        <p:sp>
          <p:nvSpPr>
            <p:cNvPr id="20" name="Rectangle 20"/>
            <p:cNvSpPr/>
            <p:nvPr/>
          </p:nvSpPr>
          <p:spPr>
            <a:xfrm>
              <a:off x="6096000" y="2000250"/>
              <a:ext cx="2362200" cy="1504950"/>
            </a:xfrm>
            <a:prstGeom prst="roundRect">
              <a:avLst>
                <a:gd name="adj" fmla="val 11392"/>
              </a:avLst>
            </a:prstGeom>
            <a:solidFill>
              <a:srgbClr val="FFFFFF"/>
            </a:solidFill>
            <a:ln w="14288">
              <a:solidFill>
                <a:srgbClr val="C5D2CC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295644" y="2170748"/>
              <a:ext cx="32301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6D7BB8"/>
                  </a:solidFill>
                  <a:latin typeface="Consolas"/>
                  <a:ea typeface="Consolas"/>
                  <a:cs typeface="Consolas"/>
                </a:rPr>
                <a:t>03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297549" y="2668429"/>
              <a:ext cx="86680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1"/>
                  </a:solidFill>
                  <a:latin typeface="Arial"/>
                  <a:ea typeface="Microsoft YaHei"/>
                  <a:cs typeface="Arial"/>
                </a:rPr>
                <a:t>生成预览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299835" y="3021806"/>
              <a:ext cx="13910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文字替换 / 像素遮挡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8515350" y="2752725"/>
              <a:ext cx="171450" cy="9525"/>
            </a:xfrm>
            <a:custGeom>
              <a:avLst/>
              <a:gdLst/>
              <a:ahLst/>
              <a:cxnLst/>
              <a:rect l="l" t="t" r="r" b="b"/>
              <a:pathLst>
                <a:path w="171450" h="9525">
                  <a:moveTo>
                    <a:pt x="0" y="0"/>
                  </a:moveTo>
                  <a:lnTo>
                    <a:pt x="171450" y="0"/>
                  </a:lnTo>
                </a:path>
              </a:pathLst>
            </a:custGeom>
            <a:noFill/>
            <a:ln w="19050" cap="rnd">
              <a:solidFill>
                <a:srgbClr val="6D7BB8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8658225" y="2686050"/>
              <a:ext cx="142875" cy="133350"/>
            </a:xfrm>
            <a:custGeom>
              <a:avLst/>
              <a:gdLst/>
              <a:ahLst/>
              <a:cxnLst/>
              <a:rect l="l" t="t" r="r" b="b"/>
              <a:pathLst>
                <a:path w="142875" h="133350">
                  <a:moveTo>
                    <a:pt x="0" y="0"/>
                  </a:moveTo>
                  <a:lnTo>
                    <a:pt x="142875" y="66675"/>
                  </a:lnTo>
                  <a:lnTo>
                    <a:pt x="0" y="133350"/>
                  </a:lnTo>
                </a:path>
              </a:pathLst>
            </a:custGeom>
            <a:noFill/>
            <a:ln w="19050" cap="rnd">
              <a:solidFill>
                <a:srgbClr val="6D7BB8"/>
              </a:solidFill>
              <a:round/>
            </a:ln>
          </p:spPr>
        </p:sp>
        <p:sp>
          <p:nvSpPr>
            <p:cNvPr id="26" name="Rectangle 26"/>
            <p:cNvSpPr/>
            <p:nvPr/>
          </p:nvSpPr>
          <p:spPr>
            <a:xfrm>
              <a:off x="8877300" y="2000250"/>
              <a:ext cx="2362200" cy="1504950"/>
            </a:xfrm>
            <a:prstGeom prst="roundRect">
              <a:avLst>
                <a:gd name="adj" fmla="val 11392"/>
              </a:avLst>
            </a:prstGeom>
            <a:solidFill>
              <a:srgbClr val="FFFFFF"/>
            </a:solidFill>
            <a:ln w="14288">
              <a:solidFill>
                <a:srgbClr val="C5D2CC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076944" y="2170748"/>
              <a:ext cx="32301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04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078849" y="2668429"/>
              <a:ext cx="86680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1"/>
                  </a:solidFill>
                  <a:latin typeface="Arial"/>
                  <a:ea typeface="Microsoft YaHei"/>
                  <a:cs typeface="Arial"/>
                </a:rPr>
                <a:t>用户确认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081135" y="302180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确认后才允许云调用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4000500"/>
              <a:ext cx="11125200" cy="1428750"/>
            </a:xfrm>
            <a:prstGeom prst="roundRect">
              <a:avLst>
                <a:gd name="adj" fmla="val 12000"/>
              </a:avLst>
            </a:prstGeom>
            <a:solidFill>
              <a:srgbClr val="1E2A31"/>
            </a:solidFill>
            <a:ln w="14288">
              <a:solidFill>
                <a:srgbClr val="1E2A31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13054" y="423291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BCE5DB"/>
                  </a:solidFill>
                  <a:latin typeface="Arial"/>
                  <a:ea typeface="Microsoft YaHei"/>
                  <a:cs typeface="Arial"/>
                </a:rPr>
                <a:t>上传前审计对象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12673" y="4624864"/>
              <a:ext cx="71831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Token / 密码 邮箱 / 用户名 Windows / Linux 绝对路径 截图敏感像素 日志与导出物二次泄漏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12673" y="5053489"/>
              <a:ext cx="32869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6C2AF"/>
                  </a:solidFill>
                  <a:latin typeface="Arial"/>
                  <a:ea typeface="Microsoft YaHei"/>
                  <a:cs typeface="Arial"/>
                </a:rPr>
                <a:t>用户能看到脱敏结果，系统才有资格继续。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533400" y="6429375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C5D2CC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28447" y="6552724"/>
              <a:ext cx="237796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08087"/>
                  </a:solidFill>
                  <a:latin typeface="Arial"/>
                  <a:ea typeface="Microsoft YaHei"/>
                  <a:cs typeface="Arial"/>
                </a:rPr>
                <a:t>DebugMate · V0.1 · 可追溯诊断工作流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28447" y="266224"/>
            <a:ext cx="11062713" cy="286226"/>
            <a:chOff x="528447" y="266224"/>
            <a:chExt cx="11062713" cy="286226"/>
          </a:xfrm>
        </p:grpSpPr>
        <p:sp>
          <p:nvSpPr>
            <p:cNvPr id="2" name="TextBox 2"/>
            <p:cNvSpPr txBox="1"/>
            <p:nvPr/>
          </p:nvSpPr>
          <p:spPr>
            <a:xfrm>
              <a:off x="528447" y="266224"/>
              <a:ext cx="105266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spc="150" dirty="0">
                  <a:solidFill>
                    <a:schemeClr val="accent2"/>
                  </a:solidFill>
                  <a:latin typeface="Arial"/>
                  <a:ea typeface="Arial"/>
                  <a:cs typeface="Arial"/>
                </a:rPr>
                <a:t>03 · PROMPT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1139297" y="266224"/>
              <a:ext cx="4518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08087"/>
                  </a:solidFill>
                  <a:latin typeface="Consolas"/>
                  <a:ea typeface="Consolas"/>
                  <a:cs typeface="Consolas"/>
                </a:rPr>
                <a:t>10 / 15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33400" y="514350"/>
              <a:ext cx="304800" cy="381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</p:grpSp>
      <p:grpSp>
        <p:nvGrpSpPr>
          <p:cNvPr id="41" name="Group 41"/>
          <p:cNvGrpSpPr/>
          <p:nvPr/>
        </p:nvGrpSpPr>
        <p:grpSpPr>
          <a:xfrm>
            <a:off x="416321" y="724852"/>
            <a:ext cx="11242279" cy="6018562"/>
            <a:chOff x="416321" y="724852"/>
            <a:chExt cx="11242279" cy="6018562"/>
          </a:xfrm>
        </p:grpSpPr>
        <p:sp>
          <p:nvSpPr>
            <p:cNvPr id="6" name="TextBox 6"/>
            <p:cNvSpPr txBox="1"/>
            <p:nvPr/>
          </p:nvSpPr>
          <p:spPr>
            <a:xfrm>
              <a:off x="520446" y="724852"/>
              <a:ext cx="43376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1"/>
                  </a:solidFill>
                  <a:latin typeface="Arial"/>
                  <a:ea typeface="Microsoft YaHei"/>
                  <a:cs typeface="Arial"/>
                </a:rPr>
                <a:t>V1–V4：从能回答到可派生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45973" y="1167289"/>
              <a:ext cx="51823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708087"/>
                  </a:solidFill>
                  <a:latin typeface="Arial"/>
                  <a:ea typeface="Microsoft YaHei"/>
                  <a:cs typeface="Arial"/>
                </a:rPr>
                <a:t>提示词优化的终点不是更长，而是证据、结构和多模态输出保持一致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952500" y="3429000"/>
              <a:ext cx="10287000" cy="9525"/>
            </a:xfrm>
            <a:custGeom>
              <a:avLst/>
              <a:gdLst/>
              <a:ahLst/>
              <a:cxnLst/>
              <a:rect l="l" t="t" r="r" b="b"/>
              <a:pathLst>
                <a:path w="10287000" h="9525">
                  <a:moveTo>
                    <a:pt x="0" y="0"/>
                  </a:moveTo>
                  <a:lnTo>
                    <a:pt x="10287000" y="0"/>
                  </a:lnTo>
                </a:path>
              </a:pathLst>
            </a:custGeom>
            <a:noFill/>
            <a:ln w="38100">
              <a:solidFill>
                <a:srgbClr val="C5D2CC"/>
              </a:solidFill>
            </a:ln>
          </p:spPr>
        </p:sp>
        <p:sp>
          <p:nvSpPr>
            <p:cNvPr id="9" name="Ellipse 9"/>
            <p:cNvSpPr/>
            <p:nvPr/>
          </p:nvSpPr>
          <p:spPr>
            <a:xfrm>
              <a:off x="914400" y="3200400"/>
              <a:ext cx="457200" cy="457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63457" y="3391852"/>
              <a:ext cx="1590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Cascadia Mono"/>
                  <a:ea typeface="Cascadia Mono"/>
                  <a:cs typeface="Cascadia Mono"/>
                </a:rPr>
                <a:t>✓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90748" y="2567940"/>
              <a:ext cx="31400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3"/>
                  </a:solidFill>
                  <a:latin typeface="Cascadia Mono"/>
                  <a:ea typeface="Cascadia Mono"/>
                  <a:cs typeface="Cascadia Mono"/>
                </a:rPr>
                <a:t>V1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36270" y="38957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1"/>
                  </a:solidFill>
                  <a:latin typeface="Arial"/>
                  <a:ea typeface="Microsoft YaHei"/>
                  <a:cs typeface="Arial"/>
                </a:rPr>
                <a:t>基础诊断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16321" y="4241006"/>
              <a:ext cx="12628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类别 / 原因 / 步骤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81025" y="4762500"/>
              <a:ext cx="1123950" cy="285750"/>
            </a:xfrm>
            <a:prstGeom prst="roundRect">
              <a:avLst>
                <a:gd name="adj" fmla="val 50000"/>
              </a:avLst>
            </a:prstGeom>
            <a:solidFill>
              <a:srgbClr val="FBE5DB"/>
            </a:solidFill>
            <a:ln w="14288">
              <a:solidFill>
                <a:srgbClr val="FBE5DB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25639" y="483965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chemeClr val="accent3"/>
                  </a:solidFill>
                  <a:latin typeface="Arial"/>
                  <a:ea typeface="Microsoft YaHei"/>
                  <a:cs typeface="Arial"/>
                </a:rPr>
                <a:t>能回答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3581400" y="3200400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730457" y="3391852"/>
              <a:ext cx="1590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Cascadia Mono"/>
                  <a:ea typeface="Cascadia Mono"/>
                  <a:cs typeface="Cascadia Mono"/>
                </a:rPr>
                <a:t>✓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557748" y="2567940"/>
              <a:ext cx="31400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2"/>
                  </a:solidFill>
                  <a:latin typeface="Cascadia Mono"/>
                  <a:ea typeface="Cascadia Mono"/>
                  <a:cs typeface="Cascadia Mono"/>
                </a:rPr>
                <a:t>V2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303270" y="38957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1"/>
                  </a:solidFill>
                  <a:latin typeface="Arial"/>
                  <a:ea typeface="Microsoft YaHei"/>
                  <a:cs typeface="Arial"/>
                </a:rPr>
                <a:t>引用约束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932547" y="4241006"/>
              <a:ext cx="15644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事实 / 推断 / 缺失信息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3248025" y="4762500"/>
              <a:ext cx="1123950" cy="285750"/>
            </a:xfrm>
            <a:prstGeom prst="roundRect">
              <a:avLst>
                <a:gd name="adj" fmla="val 50000"/>
              </a:avLst>
            </a:prstGeom>
            <a:solidFill>
              <a:srgbClr val="E1F1EC"/>
            </a:solidFill>
            <a:ln w="14288">
              <a:solidFill>
                <a:srgbClr val="E1F1EC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592640" y="483965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chemeClr val="accent2"/>
                  </a:solidFill>
                  <a:latin typeface="Arial"/>
                  <a:ea typeface="Microsoft YaHei"/>
                  <a:cs typeface="Arial"/>
                </a:rPr>
                <a:t>有依据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6248400" y="3200400"/>
              <a:ext cx="457200" cy="457200"/>
            </a:xfrm>
            <a:prstGeom prst="ellipse">
              <a:avLst/>
            </a:prstGeom>
            <a:solidFill>
              <a:srgbClr val="6D7BB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397457" y="3391852"/>
              <a:ext cx="1590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Cascadia Mono"/>
                  <a:ea typeface="Cascadia Mono"/>
                  <a:cs typeface="Cascadia Mono"/>
                </a:rPr>
                <a:t>✓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224748" y="2567940"/>
              <a:ext cx="31400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6D7BB8"/>
                  </a:solidFill>
                  <a:latin typeface="Cascadia Mono"/>
                  <a:ea typeface="Cascadia Mono"/>
                  <a:cs typeface="Cascadia Mono"/>
                </a:rPr>
                <a:t>V3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970270" y="38957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1"/>
                  </a:solidFill>
                  <a:latin typeface="Arial"/>
                  <a:ea typeface="Microsoft YaHei"/>
                  <a:cs typeface="Arial"/>
                </a:rPr>
                <a:t>结构可靠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599547" y="4241006"/>
              <a:ext cx="15644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命令影响 / 预期 / 回退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915025" y="4762500"/>
              <a:ext cx="1123950" cy="285750"/>
            </a:xfrm>
            <a:prstGeom prst="roundRect">
              <a:avLst>
                <a:gd name="adj" fmla="val 50000"/>
              </a:avLst>
            </a:prstGeom>
            <a:solidFill>
              <a:srgbClr val="FBE5DB"/>
            </a:solidFill>
            <a:ln w="14288">
              <a:solidFill>
                <a:srgbClr val="FBE5DB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259640" y="483965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chemeClr val="accent3"/>
                  </a:solidFill>
                  <a:latin typeface="Arial"/>
                  <a:ea typeface="Microsoft YaHei"/>
                  <a:cs typeface="Arial"/>
                </a:rPr>
                <a:t>可校验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8915400" y="3200400"/>
              <a:ext cx="457200" cy="457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064457" y="3391852"/>
              <a:ext cx="1590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Cascadia Mono"/>
                  <a:ea typeface="Cascadia Mono"/>
                  <a:cs typeface="Cascadia Mono"/>
                </a:rPr>
                <a:t>✓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891748" y="2567940"/>
              <a:ext cx="31400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3"/>
                  </a:solidFill>
                  <a:latin typeface="Cascadia Mono"/>
                  <a:ea typeface="Cascadia Mono"/>
                  <a:cs typeface="Cascadia Mono"/>
                </a:rPr>
                <a:t>V4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637270" y="38957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1"/>
                  </a:solidFill>
                  <a:latin typeface="Arial"/>
                  <a:ea typeface="Microsoft YaHei"/>
                  <a:cs typeface="Arial"/>
                </a:rPr>
                <a:t>课程定稿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136042" y="4241006"/>
              <a:ext cx="18254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recap → 报告 / PNG / MP3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8582025" y="4762500"/>
              <a:ext cx="1123950" cy="285750"/>
            </a:xfrm>
            <a:prstGeom prst="roundRect">
              <a:avLst>
                <a:gd name="adj" fmla="val 50000"/>
              </a:avLst>
            </a:prstGeom>
            <a:solidFill>
              <a:srgbClr val="FBE5DB"/>
            </a:solidFill>
            <a:ln w="14288">
              <a:solidFill>
                <a:srgbClr val="FBE5DB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926640" y="483965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chemeClr val="accent3"/>
                  </a:solidFill>
                  <a:latin typeface="Arial"/>
                  <a:ea typeface="Microsoft YaHei"/>
                  <a:cs typeface="Arial"/>
                </a:rPr>
                <a:t>可派生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5429250"/>
              <a:ext cx="11125200" cy="438150"/>
            </a:xfrm>
            <a:prstGeom prst="roundRect">
              <a:avLst>
                <a:gd name="adj" fmla="val 30435"/>
              </a:avLst>
            </a:prstGeom>
            <a:solidFill>
              <a:srgbClr val="FFFFFF"/>
            </a:solidFill>
            <a:ln w="14288">
              <a:solidFill>
                <a:srgbClr val="C5D2CC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3250244" y="5584031"/>
              <a:ext cx="56915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708087"/>
                  </a:solidFill>
                  <a:latin typeface="Arial"/>
                  <a:ea typeface="Microsoft YaHei"/>
                  <a:cs typeface="Arial"/>
                </a:rPr>
                <a:t>V1 有固定案例 manifest；V2–V4 的采用、限制与未验证范围保留在版本化账本中。</a:t>
              </a:r>
            </a:p>
          </p:txBody>
        </p:sp>
        <p:sp>
          <p:nvSpPr>
            <p:cNvPr id="39" name="Line 39"/>
            <p:cNvSpPr/>
            <p:nvPr/>
          </p:nvSpPr>
          <p:spPr>
            <a:xfrm>
              <a:off x="533400" y="6429375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C5D2CC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28447" y="6552724"/>
              <a:ext cx="237796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08087"/>
                  </a:solidFill>
                  <a:latin typeface="Arial"/>
                  <a:ea typeface="Microsoft YaHei"/>
                  <a:cs typeface="Arial"/>
                </a:rPr>
                <a:t>DebugMate · V0.1 · 可追溯诊断工作流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28447" y="266224"/>
            <a:ext cx="11062713" cy="286226"/>
            <a:chOff x="528447" y="266224"/>
            <a:chExt cx="11062713" cy="286226"/>
          </a:xfrm>
        </p:grpSpPr>
        <p:sp>
          <p:nvSpPr>
            <p:cNvPr id="2" name="TextBox 2"/>
            <p:cNvSpPr txBox="1"/>
            <p:nvPr/>
          </p:nvSpPr>
          <p:spPr>
            <a:xfrm>
              <a:off x="528447" y="266224"/>
              <a:ext cx="95466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spc="150" dirty="0">
                  <a:solidFill>
                    <a:schemeClr val="accent2"/>
                  </a:solidFill>
                  <a:latin typeface="Arial"/>
                  <a:ea typeface="Arial"/>
                  <a:cs typeface="Arial"/>
                </a:rPr>
                <a:t>03 · PROOF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1139297" y="266224"/>
              <a:ext cx="4518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08087"/>
                  </a:solidFill>
                  <a:latin typeface="Consolas"/>
                  <a:ea typeface="Consolas"/>
                  <a:cs typeface="Consolas"/>
                </a:rPr>
                <a:t>11 / 15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33400" y="514350"/>
              <a:ext cx="304800" cy="381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</p:grpSp>
      <p:grpSp>
        <p:nvGrpSpPr>
          <p:cNvPr id="25" name="Group 25"/>
          <p:cNvGrpSpPr/>
          <p:nvPr/>
        </p:nvGrpSpPr>
        <p:grpSpPr>
          <a:xfrm>
            <a:off x="520446" y="724852"/>
            <a:ext cx="11320577" cy="6018562"/>
            <a:chOff x="520446" y="724852"/>
            <a:chExt cx="11320577" cy="6018562"/>
          </a:xfrm>
        </p:grpSpPr>
        <p:sp>
          <p:nvSpPr>
            <p:cNvPr id="6" name="TextBox 6"/>
            <p:cNvSpPr txBox="1"/>
            <p:nvPr/>
          </p:nvSpPr>
          <p:spPr>
            <a:xfrm>
              <a:off x="520446" y="724852"/>
              <a:ext cx="380199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1"/>
                  </a:solidFill>
                  <a:latin typeface="Arial"/>
                  <a:ea typeface="Microsoft YaHei"/>
                  <a:cs typeface="Arial"/>
                </a:rPr>
                <a:t>一次完整诊断的真实结果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45973" y="1167289"/>
              <a:ext cx="557500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708087"/>
                  </a:solidFill>
                  <a:latin typeface="Arial"/>
                  <a:ea typeface="Microsoft YaHei"/>
                  <a:cs typeface="Arial"/>
                </a:rPr>
                <a:t>真实 Microsoft Edge 截图：输入、证据、诊断和下载处在同一个工作台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533400" y="1638300"/>
              <a:ext cx="8763000" cy="4095750"/>
            </a:xfrm>
            <a:prstGeom prst="roundRect">
              <a:avLst>
                <a:gd name="adj" fmla="val 4186"/>
              </a:avLst>
            </a:prstGeom>
            <a:solidFill>
              <a:srgbClr val="FFFFFF"/>
            </a:solidFill>
            <a:ln w="14288">
              <a:solidFill>
                <a:srgbClr val="C5D2CC"/>
              </a:solidFill>
            </a:ln>
          </p:spPr>
        </p:sp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08974" y="1771650"/>
              <a:ext cx="4811851" cy="3829050"/>
            </a:xfrm>
            <a:prstGeom prst="rect">
              <a:avLst/>
            </a:prstGeom>
          </p:spPr>
        </p:pic>
        <p:sp>
          <p:nvSpPr>
            <p:cNvPr id="10" name="Rectangle 10"/>
            <p:cNvSpPr/>
            <p:nvPr/>
          </p:nvSpPr>
          <p:spPr>
            <a:xfrm>
              <a:off x="9620250" y="1809750"/>
              <a:ext cx="2038350" cy="3524250"/>
            </a:xfrm>
            <a:prstGeom prst="roundRect">
              <a:avLst>
                <a:gd name="adj" fmla="val 8411"/>
              </a:avLst>
            </a:prstGeom>
            <a:solidFill>
              <a:schemeClr val="accent1"/>
            </a:solidFill>
            <a:ln w="14288">
              <a:solidFill>
                <a:schemeClr val="accent1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879330" y="2076450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BCE5DB"/>
                  </a:solidFill>
                  <a:latin typeface="Arial"/>
                  <a:ea typeface="Microsoft YaHei"/>
                  <a:cs typeface="Arial"/>
                </a:rPr>
                <a:t>三处关键证据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9810750" y="2619375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886969" y="268414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147554" y="26708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脱敏输入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9810750" y="333375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886969" y="339852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147554" y="338518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事实与引用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9810750" y="4048125"/>
              <a:ext cx="228600" cy="2286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886969" y="411289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147554" y="4099560"/>
              <a:ext cx="169346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报告 / 卡 / 音频 / ZIP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881616" y="4572952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6C2AF"/>
                  </a:solidFill>
                  <a:latin typeface="Arial"/>
                  <a:ea typeface="Microsoft YaHei"/>
                  <a:cs typeface="Arial"/>
                </a:rPr>
                <a:t>截图标记：离线回放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881616" y="4839652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D8E5E1"/>
                  </a:solidFill>
                  <a:latin typeface="Arial"/>
                  <a:ea typeface="Microsoft YaHei"/>
                  <a:cs typeface="Arial"/>
                </a:rPr>
                <a:t>不把回放称为实时云端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533400" y="6429375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C5D2CC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28447" y="6552724"/>
              <a:ext cx="237796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08087"/>
                  </a:solidFill>
                  <a:latin typeface="Arial"/>
                  <a:ea typeface="Microsoft YaHei"/>
                  <a:cs typeface="Arial"/>
                </a:rPr>
                <a:t>DebugMate · V0.1 · 可追溯诊断工作流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28447" y="266224"/>
            <a:ext cx="11062713" cy="286226"/>
            <a:chOff x="528447" y="266224"/>
            <a:chExt cx="11062713" cy="286226"/>
          </a:xfrm>
        </p:grpSpPr>
        <p:sp>
          <p:nvSpPr>
            <p:cNvPr id="2" name="TextBox 2"/>
            <p:cNvSpPr txBox="1"/>
            <p:nvPr/>
          </p:nvSpPr>
          <p:spPr>
            <a:xfrm>
              <a:off x="528447" y="266224"/>
              <a:ext cx="95466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spc="150" dirty="0">
                  <a:solidFill>
                    <a:schemeClr val="accent2"/>
                  </a:solidFill>
                  <a:latin typeface="Arial"/>
                  <a:ea typeface="Arial"/>
                  <a:cs typeface="Arial"/>
                </a:rPr>
                <a:t>03 · PROOF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1139297" y="266224"/>
              <a:ext cx="4518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08087"/>
                  </a:solidFill>
                  <a:latin typeface="Consolas"/>
                  <a:ea typeface="Consolas"/>
                  <a:cs typeface="Consolas"/>
                </a:rPr>
                <a:t>12 / 15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33400" y="514350"/>
              <a:ext cx="304800" cy="381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</p:grpSp>
      <p:grpSp>
        <p:nvGrpSpPr>
          <p:cNvPr id="34" name="Group 34"/>
          <p:cNvGrpSpPr/>
          <p:nvPr/>
        </p:nvGrpSpPr>
        <p:grpSpPr>
          <a:xfrm>
            <a:off x="520446" y="724852"/>
            <a:ext cx="11138154" cy="6018562"/>
            <a:chOff x="520446" y="724852"/>
            <a:chExt cx="11138154" cy="6018562"/>
          </a:xfrm>
        </p:grpSpPr>
        <p:sp>
          <p:nvSpPr>
            <p:cNvPr id="6" name="TextBox 6"/>
            <p:cNvSpPr txBox="1"/>
            <p:nvPr/>
          </p:nvSpPr>
          <p:spPr>
            <a:xfrm>
              <a:off x="520446" y="724852"/>
              <a:ext cx="380199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1"/>
                  </a:solidFill>
                  <a:latin typeface="Arial"/>
                  <a:ea typeface="Microsoft YaHei"/>
                  <a:cs typeface="Arial"/>
                </a:rPr>
                <a:t>三种输出，共享一个身份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45973" y="1167289"/>
              <a:ext cx="45876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708087"/>
                  </a:solidFill>
                  <a:latin typeface="Arial"/>
                  <a:ea typeface="Microsoft YaHei"/>
                  <a:cs typeface="Arial"/>
                </a:rPr>
                <a:t>同一份 DiagnosisRecord 派生出文字、图像、语音与证据包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533400" y="2114550"/>
              <a:ext cx="2857500" cy="2476500"/>
            </a:xfrm>
            <a:prstGeom prst="roundRect">
              <a:avLst>
                <a:gd name="adj" fmla="val 6923"/>
              </a:avLst>
            </a:prstGeom>
            <a:solidFill>
              <a:srgbClr val="FFFFFF"/>
            </a:solidFill>
            <a:ln w="14288">
              <a:solidFill>
                <a:srgbClr val="C5D2CC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30199" y="2401729"/>
              <a:ext cx="86680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2"/>
                  </a:solidFill>
                  <a:latin typeface="Arial"/>
                  <a:ea typeface="Microsoft YaHei"/>
                  <a:cs typeface="Arial"/>
                </a:rPr>
                <a:t>文字报告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1723" y="2853214"/>
              <a:ext cx="9003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事实 / 推断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1723" y="317706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缺失信息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31723" y="350091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检查与验证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31723" y="3824764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置信度与局限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4667250" y="1733550"/>
              <a:ext cx="2857500" cy="3238500"/>
            </a:xfrm>
            <a:prstGeom prst="roundRect">
              <a:avLst>
                <a:gd name="adj" fmla="val 8000"/>
              </a:avLst>
            </a:prstGeom>
            <a:solidFill>
              <a:schemeClr val="accent1"/>
            </a:solidFill>
            <a:ln w="14288">
              <a:solidFill>
                <a:schemeClr val="accent1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93281" y="2143125"/>
              <a:ext cx="160543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BCE5DB"/>
                  </a:solidFill>
                  <a:latin typeface="Cascadia Mono"/>
                  <a:ea typeface="Cascadia Mono"/>
                  <a:cs typeface="Cascadia Mono"/>
                </a:rPr>
                <a:t>shared identity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089398" y="2738914"/>
              <a:ext cx="63328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ascadia Mono"/>
                  <a:ea typeface="Cascadia Mono"/>
                  <a:cs typeface="Cascadia Mono"/>
                </a:rPr>
                <a:t>case_id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089398" y="3177064"/>
              <a:ext cx="120191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ascadia Mono"/>
                  <a:ea typeface="Cascadia Mono"/>
                  <a:cs typeface="Cascadia Mono"/>
                </a:rPr>
                <a:t>source_run_id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089398" y="3615214"/>
              <a:ext cx="12536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ascadia Mono"/>
                  <a:ea typeface="Cascadia Mono"/>
                  <a:cs typeface="Cascadia Mono"/>
                </a:rPr>
                <a:t>diagnosis_hash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089398" y="4053364"/>
              <a:ext cx="13311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ascadia Mono"/>
                  <a:ea typeface="Cascadia Mono"/>
                  <a:cs typeface="Cascadia Mono"/>
                </a:rPr>
                <a:t>schema_version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8801100" y="2114550"/>
              <a:ext cx="2857500" cy="2476500"/>
            </a:xfrm>
            <a:prstGeom prst="roundRect">
              <a:avLst>
                <a:gd name="adj" fmla="val 6923"/>
              </a:avLst>
            </a:prstGeom>
            <a:solidFill>
              <a:srgbClr val="FFFFFF"/>
            </a:solidFill>
            <a:ln w="14288">
              <a:solidFill>
                <a:srgbClr val="C5D2CC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097899" y="2401729"/>
              <a:ext cx="171503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3"/>
                  </a:solidFill>
                  <a:latin typeface="Arial"/>
                  <a:ea typeface="Arial"/>
                  <a:cs typeface="Arial"/>
                </a:rPr>
                <a:t>PNG / MP3 / ZIP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099423" y="2853214"/>
              <a:ext cx="15871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Pillow 确定性诊断卡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099423" y="3215164"/>
              <a:ext cx="20979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同一 recap_text 生成语音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099423" y="3577114"/>
              <a:ext cx="205139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manifest + SHA-256 校验</a:t>
              </a:r>
            </a:p>
          </p:txBody>
        </p:sp>
        <p:pic>
          <p:nvPicPr>
            <p:cNvPr id="25" name="Image 2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918087" y="4038600"/>
              <a:ext cx="566377" cy="723900"/>
            </a:xfrm>
            <a:prstGeom prst="rect">
              <a:avLst/>
            </a:prstGeom>
          </p:spPr>
        </p:pic>
        <p:sp>
          <p:nvSpPr>
            <p:cNvPr id="26" name="Line 26"/>
            <p:cNvSpPr/>
            <p:nvPr/>
          </p:nvSpPr>
          <p:spPr>
            <a:xfrm>
              <a:off x="3476625" y="3333750"/>
              <a:ext cx="923925" cy="9525"/>
            </a:xfrm>
            <a:custGeom>
              <a:avLst/>
              <a:gdLst/>
              <a:ahLst/>
              <a:cxnLst/>
              <a:rect l="l" t="t" r="r" b="b"/>
              <a:pathLst>
                <a:path w="923925" h="9525">
                  <a:moveTo>
                    <a:pt x="0" y="0"/>
                  </a:moveTo>
                  <a:lnTo>
                    <a:pt x="923925" y="0"/>
                  </a:lnTo>
                </a:path>
              </a:pathLst>
            </a:custGeom>
            <a:noFill/>
            <a:ln w="28575" cap="rnd">
              <a:solidFill>
                <a:schemeClr val="accent2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4371975" y="3267075"/>
              <a:ext cx="142875" cy="133350"/>
            </a:xfrm>
            <a:custGeom>
              <a:avLst/>
              <a:gdLst/>
              <a:ahLst/>
              <a:cxnLst/>
              <a:rect l="l" t="t" r="r" b="b"/>
              <a:pathLst>
                <a:path w="142875" h="133350">
                  <a:moveTo>
                    <a:pt x="0" y="0"/>
                  </a:moveTo>
                  <a:lnTo>
                    <a:pt x="142875" y="66675"/>
                  </a:lnTo>
                  <a:lnTo>
                    <a:pt x="0" y="133350"/>
                  </a:lnTo>
                </a:path>
              </a:pathLst>
            </a:custGeom>
            <a:noFill/>
            <a:ln w="28575" cap="rnd">
              <a:solidFill>
                <a:schemeClr val="accent2"/>
              </a:solidFill>
              <a:round/>
            </a:ln>
          </p:spPr>
        </p:sp>
        <p:sp>
          <p:nvSpPr>
            <p:cNvPr id="28" name="Line 28"/>
            <p:cNvSpPr/>
            <p:nvPr/>
          </p:nvSpPr>
          <p:spPr>
            <a:xfrm>
              <a:off x="7677150" y="3333750"/>
              <a:ext cx="923925" cy="9525"/>
            </a:xfrm>
            <a:custGeom>
              <a:avLst/>
              <a:gdLst/>
              <a:ahLst/>
              <a:cxnLst/>
              <a:rect l="l" t="t" r="r" b="b"/>
              <a:pathLst>
                <a:path w="923925" h="9525">
                  <a:moveTo>
                    <a:pt x="0" y="0"/>
                  </a:moveTo>
                  <a:lnTo>
                    <a:pt x="923925" y="0"/>
                  </a:lnTo>
                </a:path>
              </a:pathLst>
            </a:custGeom>
            <a:noFill/>
            <a:ln w="28575" cap="rnd">
              <a:solidFill>
                <a:schemeClr val="accent3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8572500" y="3267075"/>
              <a:ext cx="142875" cy="133350"/>
            </a:xfrm>
            <a:custGeom>
              <a:avLst/>
              <a:gdLst/>
              <a:ahLst/>
              <a:cxnLst/>
              <a:rect l="l" t="t" r="r" b="b"/>
              <a:pathLst>
                <a:path w="142875" h="133350">
                  <a:moveTo>
                    <a:pt x="0" y="0"/>
                  </a:moveTo>
                  <a:lnTo>
                    <a:pt x="142875" y="66675"/>
                  </a:lnTo>
                  <a:lnTo>
                    <a:pt x="0" y="133350"/>
                  </a:lnTo>
                </a:path>
              </a:pathLst>
            </a:custGeom>
            <a:noFill/>
            <a:ln w="28575" cap="rnd">
              <a:solidFill>
                <a:schemeClr val="accent3"/>
              </a:solidFill>
              <a:round/>
            </a:ln>
          </p:spPr>
        </p:sp>
        <p:sp>
          <p:nvSpPr>
            <p:cNvPr id="30" name="Rectangle 30"/>
            <p:cNvSpPr/>
            <p:nvPr/>
          </p:nvSpPr>
          <p:spPr>
            <a:xfrm>
              <a:off x="533400" y="5334000"/>
              <a:ext cx="11125200" cy="457200"/>
            </a:xfrm>
            <a:prstGeom prst="roundRect">
              <a:avLst>
                <a:gd name="adj" fmla="val 29167"/>
              </a:avLst>
            </a:prstGeom>
            <a:solidFill>
              <a:srgbClr val="D9EEE8"/>
            </a:solidFill>
            <a:ln w="14288">
              <a:solidFill>
                <a:srgbClr val="D9EEE8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3899848" y="5491639"/>
              <a:ext cx="43923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chemeClr val="accent2"/>
                  </a:solidFill>
                  <a:latin typeface="Arial"/>
                  <a:ea typeface="Microsoft YaHei"/>
                  <a:cs typeface="Arial"/>
                </a:rPr>
                <a:t>同源 ≠ 同格式；同源 = 同一身份、同一事实、同一限制。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533400" y="6429375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C5D2CC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28447" y="6552724"/>
              <a:ext cx="237796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08087"/>
                  </a:solidFill>
                  <a:latin typeface="Arial"/>
                  <a:ea typeface="Microsoft YaHei"/>
                  <a:cs typeface="Arial"/>
                </a:rPr>
                <a:t>DebugMate · V0.1 · 可追溯诊断工作流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28447" y="266224"/>
            <a:ext cx="11062713" cy="286226"/>
            <a:chOff x="528447" y="266224"/>
            <a:chExt cx="11062713" cy="286226"/>
          </a:xfrm>
        </p:grpSpPr>
        <p:sp>
          <p:nvSpPr>
            <p:cNvPr id="2" name="TextBox 2"/>
            <p:cNvSpPr txBox="1"/>
            <p:nvPr/>
          </p:nvSpPr>
          <p:spPr>
            <a:xfrm>
              <a:off x="528447" y="266224"/>
              <a:ext cx="11227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spc="150" dirty="0">
                  <a:solidFill>
                    <a:schemeClr val="accent2"/>
                  </a:solidFill>
                  <a:latin typeface="Arial"/>
                  <a:ea typeface="Arial"/>
                  <a:cs typeface="Arial"/>
                </a:rPr>
                <a:t>03 · HONESTY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1139297" y="266224"/>
              <a:ext cx="4518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08087"/>
                  </a:solidFill>
                  <a:latin typeface="Consolas"/>
                  <a:ea typeface="Consolas"/>
                  <a:cs typeface="Consolas"/>
                </a:rPr>
                <a:t>13 / 15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33400" y="514350"/>
              <a:ext cx="304800" cy="381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</p:grpSp>
      <p:grpSp>
        <p:nvGrpSpPr>
          <p:cNvPr id="29" name="Group 29"/>
          <p:cNvGrpSpPr/>
          <p:nvPr/>
        </p:nvGrpSpPr>
        <p:grpSpPr>
          <a:xfrm>
            <a:off x="520446" y="724852"/>
            <a:ext cx="11138154" cy="6018562"/>
            <a:chOff x="520446" y="724852"/>
            <a:chExt cx="11138154" cy="6018562"/>
          </a:xfrm>
        </p:grpSpPr>
        <p:sp>
          <p:nvSpPr>
            <p:cNvPr id="6" name="TextBox 6"/>
            <p:cNvSpPr txBox="1"/>
            <p:nvPr/>
          </p:nvSpPr>
          <p:spPr>
            <a:xfrm>
              <a:off x="520446" y="724852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1"/>
                  </a:solidFill>
                  <a:latin typeface="Arial"/>
                  <a:ea typeface="Microsoft YaHei"/>
                  <a:cs typeface="Arial"/>
                </a:rPr>
                <a:t>失败也要诚实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45973" y="1167289"/>
              <a:ext cx="41484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708087"/>
                  </a:solidFill>
                  <a:latin typeface="Arial"/>
                  <a:ea typeface="Microsoft YaHei"/>
                  <a:cs typeface="Arial"/>
                </a:rPr>
                <a:t>外部节点失败时保留真实失败记录，只重试失败的产物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533400" y="1714500"/>
              <a:ext cx="4191000" cy="3905250"/>
            </a:xfrm>
            <a:prstGeom prst="roundRect">
              <a:avLst>
                <a:gd name="adj" fmla="val 4390"/>
              </a:avLst>
            </a:prstGeom>
            <a:solidFill>
              <a:srgbClr val="FFFFFF"/>
            </a:solidFill>
            <a:ln w="14288">
              <a:solidFill>
                <a:srgbClr val="C5D2CC"/>
              </a:solidFill>
            </a:ln>
          </p:spPr>
        </p:sp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42733" y="1847850"/>
              <a:ext cx="2972333" cy="2952750"/>
            </a:xfrm>
            <a:prstGeom prst="rect">
              <a:avLst/>
            </a:prstGeom>
          </p:spPr>
        </p:pic>
        <p:sp>
          <p:nvSpPr>
            <p:cNvPr id="10" name="Rectangle 10"/>
            <p:cNvSpPr/>
            <p:nvPr/>
          </p:nvSpPr>
          <p:spPr>
            <a:xfrm>
              <a:off x="781050" y="4972050"/>
              <a:ext cx="1562100" cy="285750"/>
            </a:xfrm>
            <a:prstGeom prst="roundRect">
              <a:avLst>
                <a:gd name="adj" fmla="val 50000"/>
              </a:avLst>
            </a:prstGeom>
            <a:solidFill>
              <a:srgbClr val="FBE5DB"/>
            </a:solidFill>
            <a:ln w="14288">
              <a:solidFill>
                <a:srgbClr val="FBE5DB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22634" y="5049202"/>
              <a:ext cx="147893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chemeClr val="accent3"/>
                  </a:solidFill>
                  <a:latin typeface="Arial"/>
                  <a:ea typeface="Microsoft YaHei"/>
                  <a:cs typeface="Arial"/>
                </a:rPr>
                <a:t>TTS failed → 重试语音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8001000" y="1714500"/>
              <a:ext cx="3657600" cy="3905250"/>
            </a:xfrm>
            <a:prstGeom prst="roundRect">
              <a:avLst>
                <a:gd name="adj" fmla="val 4688"/>
              </a:avLst>
            </a:prstGeom>
            <a:solidFill>
              <a:srgbClr val="FFFFFF"/>
            </a:solidFill>
            <a:ln w="14288">
              <a:solidFill>
                <a:srgbClr val="C5D2CC"/>
              </a:solidFill>
            </a:ln>
          </p:spPr>
        </p:sp>
        <p:pic>
          <p:nvPicPr>
            <p:cNvPr id="13" name="Image 1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343633" y="1847850"/>
              <a:ext cx="2972333" cy="2952750"/>
            </a:xfrm>
            <a:prstGeom prst="rect">
              <a:avLst/>
            </a:prstGeom>
          </p:spPr>
        </p:pic>
        <p:sp>
          <p:nvSpPr>
            <p:cNvPr id="14" name="Rectangle 14"/>
            <p:cNvSpPr/>
            <p:nvPr/>
          </p:nvSpPr>
          <p:spPr>
            <a:xfrm>
              <a:off x="8248650" y="4972050"/>
              <a:ext cx="1790700" cy="285750"/>
            </a:xfrm>
            <a:prstGeom prst="roundRect">
              <a:avLst>
                <a:gd name="adj" fmla="val 50000"/>
              </a:avLst>
            </a:prstGeom>
            <a:solidFill>
              <a:srgbClr val="E1F1EC"/>
            </a:solidFill>
            <a:ln w="14288">
              <a:solidFill>
                <a:srgbClr val="E1F1EC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332525" y="5049202"/>
              <a:ext cx="162295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chemeClr val="accent2"/>
                  </a:solidFill>
                  <a:latin typeface="Arial"/>
                  <a:ea typeface="Microsoft YaHei"/>
                  <a:cs typeface="Arial"/>
                </a:rPr>
                <a:t>PNG failed → 重试诊断卡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143500" y="2286000"/>
              <a:ext cx="2190750" cy="2857500"/>
            </a:xfrm>
            <a:prstGeom prst="roundRect">
              <a:avLst>
                <a:gd name="adj" fmla="val 7826"/>
              </a:avLst>
            </a:prstGeom>
            <a:solidFill>
              <a:schemeClr val="accent1"/>
            </a:solidFill>
            <a:ln w="14288">
              <a:solidFill>
                <a:schemeClr val="accent1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849315" y="2551271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BCE5DB"/>
                  </a:solidFill>
                  <a:latin typeface="Arial"/>
                  <a:ea typeface="Microsoft YaHei"/>
                  <a:cs typeface="Arial"/>
                </a:rPr>
                <a:t>最小重试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480304" y="310896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保留已完成结果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480304" y="350901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记录失败节点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480304" y="390906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给出可重试范围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480304" y="4309110"/>
              <a:ext cx="161955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不伪装 cloud success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4781550" y="3638550"/>
              <a:ext cx="171450" cy="9525"/>
            </a:xfrm>
            <a:custGeom>
              <a:avLst/>
              <a:gdLst/>
              <a:ahLst/>
              <a:cxnLst/>
              <a:rect l="l" t="t" r="r" b="b"/>
              <a:pathLst>
                <a:path w="171450" h="9525">
                  <a:moveTo>
                    <a:pt x="0" y="0"/>
                  </a:moveTo>
                  <a:lnTo>
                    <a:pt x="171450" y="0"/>
                  </a:lnTo>
                </a:path>
              </a:pathLst>
            </a:custGeom>
            <a:noFill/>
            <a:ln w="19050" cap="rnd">
              <a:solidFill>
                <a:schemeClr val="accent3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4924425" y="3571875"/>
              <a:ext cx="142875" cy="133350"/>
            </a:xfrm>
            <a:custGeom>
              <a:avLst/>
              <a:gdLst/>
              <a:ahLst/>
              <a:cxnLst/>
              <a:rect l="l" t="t" r="r" b="b"/>
              <a:pathLst>
                <a:path w="142875" h="133350">
                  <a:moveTo>
                    <a:pt x="0" y="0"/>
                  </a:moveTo>
                  <a:lnTo>
                    <a:pt x="142875" y="66675"/>
                  </a:lnTo>
                  <a:lnTo>
                    <a:pt x="0" y="133350"/>
                  </a:lnTo>
                </a:path>
              </a:pathLst>
            </a:custGeom>
            <a:noFill/>
            <a:ln w="19050" cap="rnd">
              <a:solidFill>
                <a:schemeClr val="accent3"/>
              </a:solidFill>
              <a:round/>
            </a:ln>
          </p:spPr>
        </p:sp>
        <p:sp>
          <p:nvSpPr>
            <p:cNvPr id="24" name="Line 24"/>
            <p:cNvSpPr/>
            <p:nvPr/>
          </p:nvSpPr>
          <p:spPr>
            <a:xfrm>
              <a:off x="7410450" y="3638550"/>
              <a:ext cx="400050" cy="9525"/>
            </a:xfrm>
            <a:custGeom>
              <a:avLst/>
              <a:gdLst/>
              <a:ahLst/>
              <a:cxnLst/>
              <a:rect l="l" t="t" r="r" b="b"/>
              <a:pathLst>
                <a:path w="400050" h="9525">
                  <a:moveTo>
                    <a:pt x="0" y="0"/>
                  </a:moveTo>
                  <a:lnTo>
                    <a:pt x="400050" y="0"/>
                  </a:lnTo>
                </a:path>
              </a:pathLst>
            </a:custGeom>
            <a:noFill/>
            <a:ln w="19050" cap="rnd">
              <a:solidFill>
                <a:schemeClr val="accent2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7781925" y="3571875"/>
              <a:ext cx="142875" cy="133350"/>
            </a:xfrm>
            <a:custGeom>
              <a:avLst/>
              <a:gdLst/>
              <a:ahLst/>
              <a:cxnLst/>
              <a:rect l="l" t="t" r="r" b="b"/>
              <a:pathLst>
                <a:path w="142875" h="133350">
                  <a:moveTo>
                    <a:pt x="0" y="0"/>
                  </a:moveTo>
                  <a:lnTo>
                    <a:pt x="142875" y="66675"/>
                  </a:lnTo>
                  <a:lnTo>
                    <a:pt x="0" y="133350"/>
                  </a:lnTo>
                </a:path>
              </a:pathLst>
            </a:custGeom>
            <a:noFill/>
            <a:ln w="19050" cap="rnd">
              <a:solidFill>
                <a:schemeClr val="accent2"/>
              </a:solidFill>
              <a:round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27304" y="5852160"/>
              <a:ext cx="841214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708087"/>
                  </a:solidFill>
                  <a:latin typeface="Arial"/>
                  <a:ea typeface="Microsoft YaHei"/>
                  <a:cs typeface="Arial"/>
                </a:rPr>
                <a:t>当前边界：Dify 浏览器端曾出现 timeout / 旧契约响应；正式材料保留限制，并明确使用 local fallback 或 replay。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533400" y="6429375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C5D2CC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28447" y="6552724"/>
              <a:ext cx="237796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08087"/>
                  </a:solidFill>
                  <a:latin typeface="Arial"/>
                  <a:ea typeface="Microsoft YaHei"/>
                  <a:cs typeface="Arial"/>
                </a:rPr>
                <a:t>DebugMate · V0.1 · 可追溯诊断工作流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28447" y="266224"/>
            <a:ext cx="11062713" cy="286226"/>
            <a:chOff x="528447" y="266224"/>
            <a:chExt cx="11062713" cy="286226"/>
          </a:xfrm>
        </p:grpSpPr>
        <p:sp>
          <p:nvSpPr>
            <p:cNvPr id="2" name="TextBox 2"/>
            <p:cNvSpPr txBox="1"/>
            <p:nvPr/>
          </p:nvSpPr>
          <p:spPr>
            <a:xfrm>
              <a:off x="528447" y="266224"/>
              <a:ext cx="13819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spc="150" dirty="0">
                  <a:solidFill>
                    <a:schemeClr val="accent2"/>
                  </a:solidFill>
                  <a:latin typeface="Arial"/>
                  <a:ea typeface="Arial"/>
                  <a:cs typeface="Arial"/>
                </a:rPr>
                <a:t>04 · EVALUATION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1139297" y="266224"/>
              <a:ext cx="4518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08087"/>
                  </a:solidFill>
                  <a:latin typeface="Consolas"/>
                  <a:ea typeface="Consolas"/>
                  <a:cs typeface="Consolas"/>
                </a:rPr>
                <a:t>14 / 15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33400" y="514350"/>
              <a:ext cx="304800" cy="381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</p:grpSp>
      <p:grpSp>
        <p:nvGrpSpPr>
          <p:cNvPr id="39" name="Group 39"/>
          <p:cNvGrpSpPr/>
          <p:nvPr/>
        </p:nvGrpSpPr>
        <p:grpSpPr>
          <a:xfrm>
            <a:off x="520446" y="724852"/>
            <a:ext cx="11138154" cy="6018562"/>
            <a:chOff x="520446" y="724852"/>
            <a:chExt cx="11138154" cy="6018562"/>
          </a:xfrm>
        </p:grpSpPr>
        <p:sp>
          <p:nvSpPr>
            <p:cNvPr id="6" name="TextBox 6"/>
            <p:cNvSpPr txBox="1"/>
            <p:nvPr/>
          </p:nvSpPr>
          <p:spPr>
            <a:xfrm>
              <a:off x="520446" y="724852"/>
              <a:ext cx="242887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1"/>
                  </a:solidFill>
                  <a:latin typeface="Arial"/>
                  <a:ea typeface="Microsoft YaHei"/>
                  <a:cs typeface="Arial"/>
                </a:rPr>
                <a:t>评测与自动验证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45973" y="1167289"/>
              <a:ext cx="483773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708087"/>
                  </a:solidFill>
                  <a:latin typeface="Arial"/>
                  <a:ea typeface="Microsoft YaHei"/>
                  <a:cs typeface="Arial"/>
                </a:rPr>
                <a:t>以可复算证据作为完成标准，而不是以虚构成功率作为完成标准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533400" y="1714500"/>
              <a:ext cx="5715000" cy="3810000"/>
            </a:xfrm>
            <a:prstGeom prst="roundRect">
              <a:avLst>
                <a:gd name="adj" fmla="val 4500"/>
              </a:avLst>
            </a:prstGeom>
            <a:solidFill>
              <a:srgbClr val="FFFFFF"/>
            </a:solidFill>
            <a:ln w="14288">
              <a:solidFill>
                <a:srgbClr val="C5D2CC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11149" y="1982629"/>
              <a:ext cx="257147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2"/>
                  </a:solidFill>
                  <a:latin typeface="Arial"/>
                  <a:ea typeface="Microsoft YaHei"/>
                  <a:cs typeface="Arial"/>
                </a:rPr>
                <a:t>Phase 9 · 4 个代表性案例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104" y="2537460"/>
              <a:ext cx="3079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3"/>
                  </a:solidFill>
                  <a:latin typeface="Cascadia Mono"/>
                  <a:ea typeface="Cascadia Mono"/>
                  <a:cs typeface="Cascadia Mono"/>
                </a:rPr>
                <a:t>C01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422273" y="252936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1"/>
                  </a:solidFill>
                  <a:latin typeface="Arial"/>
                  <a:ea typeface="Microsoft YaHei"/>
                  <a:cs typeface="Arial"/>
                </a:rPr>
                <a:t>依赖缺失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328416" y="2553652"/>
              <a:ext cx="12757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08087"/>
                  </a:solidFill>
                  <a:latin typeface="Cascadia Mono"/>
                  <a:ea typeface="Cascadia Mono"/>
                  <a:cs typeface="Cascadia Mono"/>
                </a:rPr>
                <a:t>blocked / real_live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838200" y="2838450"/>
              <a:ext cx="4895850" cy="9525"/>
            </a:xfrm>
            <a:custGeom>
              <a:avLst/>
              <a:gdLst/>
              <a:ahLst/>
              <a:cxnLst/>
              <a:rect l="l" t="t" r="r" b="b"/>
              <a:pathLst>
                <a:path w="4895850" h="9525">
                  <a:moveTo>
                    <a:pt x="0" y="0"/>
                  </a:moveTo>
                  <a:lnTo>
                    <a:pt x="4895850" y="0"/>
                  </a:lnTo>
                </a:path>
              </a:pathLst>
            </a:custGeom>
            <a:noFill/>
            <a:ln w="9525">
              <a:solidFill>
                <a:srgbClr val="C5D2CC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32104" y="3137535"/>
              <a:ext cx="3079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6D7BB8"/>
                  </a:solidFill>
                  <a:latin typeface="Cascadia Mono"/>
                  <a:ea typeface="Cascadia Mono"/>
                  <a:cs typeface="Cascadia Mono"/>
                </a:rPr>
                <a:t>C02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422273" y="312943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1"/>
                  </a:solidFill>
                  <a:latin typeface="Arial"/>
                  <a:ea typeface="Microsoft YaHei"/>
                  <a:cs typeface="Arial"/>
                </a:rPr>
                <a:t>信息不足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328416" y="3153728"/>
              <a:ext cx="12262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08087"/>
                  </a:solidFill>
                  <a:latin typeface="Cascadia Mono"/>
                  <a:ea typeface="Cascadia Mono"/>
                  <a:cs typeface="Cascadia Mono"/>
                </a:rPr>
                <a:t>insufficient_data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838200" y="3438525"/>
              <a:ext cx="4895850" cy="9525"/>
            </a:xfrm>
            <a:custGeom>
              <a:avLst/>
              <a:gdLst/>
              <a:ahLst/>
              <a:cxnLst/>
              <a:rect l="l" t="t" r="r" b="b"/>
              <a:pathLst>
                <a:path w="4895850" h="9525">
                  <a:moveTo>
                    <a:pt x="0" y="0"/>
                  </a:moveTo>
                  <a:lnTo>
                    <a:pt x="4895850" y="0"/>
                  </a:lnTo>
                </a:path>
              </a:pathLst>
            </a:custGeom>
            <a:noFill/>
            <a:ln w="9525">
              <a:solidFill>
                <a:srgbClr val="C5D2CC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32104" y="3737610"/>
              <a:ext cx="3079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Cascadia Mono"/>
                  <a:ea typeface="Cascadia Mono"/>
                  <a:cs typeface="Cascadia Mono"/>
                </a:rPr>
                <a:t>C03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422273" y="3729514"/>
              <a:ext cx="11360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1"/>
                  </a:solidFill>
                  <a:latin typeface="Arial"/>
                  <a:ea typeface="Microsoft YaHei"/>
                  <a:cs typeface="Arial"/>
                </a:rPr>
                <a:t>长文本 replay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328416" y="3753802"/>
              <a:ext cx="111320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08087"/>
                  </a:solidFill>
                  <a:latin typeface="Cascadia Mono"/>
                  <a:ea typeface="Cascadia Mono"/>
                  <a:cs typeface="Cascadia Mono"/>
                </a:rPr>
                <a:t>blocked / replay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838200" y="4038600"/>
              <a:ext cx="4895850" cy="9525"/>
            </a:xfrm>
            <a:custGeom>
              <a:avLst/>
              <a:gdLst/>
              <a:ahLst/>
              <a:cxnLst/>
              <a:rect l="l" t="t" r="r" b="b"/>
              <a:pathLst>
                <a:path w="4895850" h="9525">
                  <a:moveTo>
                    <a:pt x="0" y="0"/>
                  </a:moveTo>
                  <a:lnTo>
                    <a:pt x="4895850" y="0"/>
                  </a:lnTo>
                </a:path>
              </a:pathLst>
            </a:custGeom>
            <a:noFill/>
            <a:ln w="9525">
              <a:solidFill>
                <a:srgbClr val="C5D2CC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32104" y="4337685"/>
              <a:ext cx="3079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3"/>
                  </a:solidFill>
                  <a:latin typeface="Cascadia Mono"/>
                  <a:ea typeface="Cascadia Mono"/>
                  <a:cs typeface="Cascadia Mono"/>
                </a:rPr>
                <a:t>C04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422273" y="4329589"/>
              <a:ext cx="137897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1"/>
                  </a:solidFill>
                  <a:latin typeface="Arial"/>
                  <a:ea typeface="Arial"/>
                  <a:cs typeface="Arial"/>
                </a:rPr>
                <a:t>fallback partial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328416" y="4353878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08087"/>
                  </a:solidFill>
                  <a:latin typeface="Cascadia Mono"/>
                  <a:ea typeface="Cascadia Mono"/>
                  <a:cs typeface="Cascadia Mono"/>
                </a:rPr>
                <a:t>partial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838200" y="4638675"/>
              <a:ext cx="4895850" cy="9525"/>
            </a:xfrm>
            <a:custGeom>
              <a:avLst/>
              <a:gdLst/>
              <a:ahLst/>
              <a:cxnLst/>
              <a:rect l="l" t="t" r="r" b="b"/>
              <a:pathLst>
                <a:path w="4895850" h="9525">
                  <a:moveTo>
                    <a:pt x="0" y="0"/>
                  </a:moveTo>
                  <a:lnTo>
                    <a:pt x="4895850" y="0"/>
                  </a:lnTo>
                </a:path>
              </a:pathLst>
            </a:custGeom>
            <a:noFill/>
            <a:ln w="9525">
              <a:solidFill>
                <a:srgbClr val="C5D2CC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6705600" y="1714500"/>
              <a:ext cx="4953000" cy="3810000"/>
            </a:xfrm>
            <a:prstGeom prst="roundRect">
              <a:avLst>
                <a:gd name="adj" fmla="val 4500"/>
              </a:avLst>
            </a:prstGeom>
            <a:solidFill>
              <a:schemeClr val="accent1"/>
            </a:solidFill>
            <a:ln w="14288">
              <a:solidFill>
                <a:schemeClr val="accent1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040499" y="1982629"/>
              <a:ext cx="129220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BCE5DB"/>
                  </a:solidFill>
                  <a:latin typeface="Arial"/>
                  <a:ea typeface="Microsoft YaHei"/>
                  <a:cs typeface="Arial"/>
                </a:rPr>
                <a:t>自动验证结果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185660" y="2533650"/>
              <a:ext cx="963397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BCE5DB"/>
                  </a:solidFill>
                  <a:latin typeface="Consolas"/>
                  <a:ea typeface="Consolas"/>
                  <a:cs typeface="Consolas"/>
                </a:rPr>
                <a:t>1177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195566" y="3029902"/>
              <a:ext cx="17775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offline regression passed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281160" y="2533650"/>
              <a:ext cx="730167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BCE5DB"/>
                  </a:solidFill>
                  <a:latin typeface="Consolas"/>
                  <a:ea typeface="Consolas"/>
                  <a:cs typeface="Consolas"/>
                </a:rPr>
                <a:t>113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291066" y="3029902"/>
              <a:ext cx="14595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privacy tests passed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185660" y="3724275"/>
              <a:ext cx="263709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F6C2AF"/>
                  </a:solidFill>
                  <a:latin typeface="Consolas"/>
                  <a:ea typeface="Consolas"/>
                  <a:cs typeface="Consolas"/>
                </a:rPr>
                <a:t>1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195566" y="4220528"/>
              <a:ext cx="189063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cloud contract test passed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281160" y="3724275"/>
              <a:ext cx="263709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F6C2AF"/>
                  </a:solidFill>
                  <a:latin typeface="Consolas"/>
                  <a:ea typeface="Consolas"/>
                  <a:cs typeface="Consolas"/>
                </a:rPr>
                <a:t>0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291066" y="4220528"/>
              <a:ext cx="16339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Phase 10 eligible source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043166" y="5125402"/>
              <a:ext cx="36221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6C2AF"/>
                  </a:solidFill>
                  <a:latin typeface="Arial"/>
                  <a:ea typeface="Microsoft YaHei"/>
                  <a:cs typeface="Arial"/>
                </a:rPr>
                <a:t>0 eligible 表示保持诚实，不把阻塞案例扩写进课程证据。</a:t>
              </a:r>
            </a:p>
          </p:txBody>
        </p:sp>
        <p:sp>
          <p:nvSpPr>
            <p:cNvPr id="37" name="Line 37"/>
            <p:cNvSpPr/>
            <p:nvPr/>
          </p:nvSpPr>
          <p:spPr>
            <a:xfrm>
              <a:off x="533400" y="6429375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C5D2CC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28447" y="6552724"/>
              <a:ext cx="237796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08087"/>
                  </a:solidFill>
                  <a:latin typeface="Arial"/>
                  <a:ea typeface="Microsoft YaHei"/>
                  <a:cs typeface="Arial"/>
                </a:rPr>
                <a:t>DebugMate · V0.1 · 可追溯诊断工作流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28447" y="266224"/>
            <a:ext cx="11062713" cy="286226"/>
            <a:chOff x="528447" y="266224"/>
            <a:chExt cx="11062713" cy="286226"/>
          </a:xfrm>
        </p:grpSpPr>
        <p:sp>
          <p:nvSpPr>
            <p:cNvPr id="2" name="TextBox 2"/>
            <p:cNvSpPr txBox="1"/>
            <p:nvPr/>
          </p:nvSpPr>
          <p:spPr>
            <a:xfrm>
              <a:off x="528447" y="266224"/>
              <a:ext cx="9267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spc="150" dirty="0">
                  <a:solidFill>
                    <a:schemeClr val="accent2"/>
                  </a:solidFill>
                  <a:latin typeface="Arial"/>
                  <a:ea typeface="Arial"/>
                  <a:cs typeface="Arial"/>
                </a:rPr>
                <a:t>05 · CLOSE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1139297" y="266224"/>
              <a:ext cx="4518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08087"/>
                  </a:solidFill>
                  <a:latin typeface="Consolas"/>
                  <a:ea typeface="Consolas"/>
                  <a:cs typeface="Consolas"/>
                </a:rPr>
                <a:t>15 / 15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33400" y="514350"/>
              <a:ext cx="304800" cy="381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</p:grpSp>
      <p:grpSp>
        <p:nvGrpSpPr>
          <p:cNvPr id="37" name="Group 37"/>
          <p:cNvGrpSpPr/>
          <p:nvPr/>
        </p:nvGrpSpPr>
        <p:grpSpPr>
          <a:xfrm>
            <a:off x="418262" y="724852"/>
            <a:ext cx="11240338" cy="6018562"/>
            <a:chOff x="418262" y="724852"/>
            <a:chExt cx="11240338" cy="6018562"/>
          </a:xfrm>
        </p:grpSpPr>
        <p:sp>
          <p:nvSpPr>
            <p:cNvPr id="6" name="TextBox 6"/>
            <p:cNvSpPr txBox="1"/>
            <p:nvPr/>
          </p:nvSpPr>
          <p:spPr>
            <a:xfrm>
              <a:off x="520446" y="724852"/>
              <a:ext cx="562482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1"/>
                  </a:solidFill>
                  <a:latin typeface="Arial"/>
                  <a:ea typeface="Microsoft YaHei"/>
                  <a:cs typeface="Arial"/>
                </a:rPr>
                <a:t>总结：把“修好一次”变成“理解一次”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45973" y="1167289"/>
              <a:ext cx="42099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708087"/>
                  </a:solidFill>
                  <a:latin typeface="Arial"/>
                  <a:ea typeface="Microsoft YaHei"/>
                  <a:cs typeface="Arial"/>
                </a:rPr>
                <a:t>DebugMate V0.1 已形成课程可提交的多模态诊断闭环</a:t>
              </a:r>
            </a:p>
          </p:txBody>
        </p:sp>
        <p:sp>
          <p:nvSpPr>
            <p:cNvPr id="8" name="Ellipse 8"/>
            <p:cNvSpPr/>
            <p:nvPr/>
          </p:nvSpPr>
          <p:spPr>
            <a:xfrm>
              <a:off x="552450" y="2819400"/>
              <a:ext cx="647700" cy="647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97509" y="308181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报错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18262" y="373618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真实或可复现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1276350" y="3143250"/>
              <a:ext cx="1314450" cy="9525"/>
            </a:xfrm>
            <a:custGeom>
              <a:avLst/>
              <a:gdLst/>
              <a:ahLst/>
              <a:cxnLst/>
              <a:rect l="l" t="t" r="r" b="b"/>
              <a:pathLst>
                <a:path w="1314450" h="9525">
                  <a:moveTo>
                    <a:pt x="0" y="0"/>
                  </a:moveTo>
                  <a:lnTo>
                    <a:pt x="1314450" y="0"/>
                  </a:lnTo>
                </a:path>
              </a:pathLst>
            </a:custGeom>
            <a:noFill/>
            <a:ln w="28575" cap="rnd">
              <a:solidFill>
                <a:schemeClr val="accent2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2562225" y="3076575"/>
              <a:ext cx="142875" cy="133350"/>
            </a:xfrm>
            <a:custGeom>
              <a:avLst/>
              <a:gdLst/>
              <a:ahLst/>
              <a:cxnLst/>
              <a:rect l="l" t="t" r="r" b="b"/>
              <a:pathLst>
                <a:path w="142875" h="133350">
                  <a:moveTo>
                    <a:pt x="0" y="0"/>
                  </a:moveTo>
                  <a:lnTo>
                    <a:pt x="142875" y="66675"/>
                  </a:lnTo>
                  <a:lnTo>
                    <a:pt x="0" y="133350"/>
                  </a:lnTo>
                </a:path>
              </a:pathLst>
            </a:custGeom>
            <a:noFill/>
            <a:ln w="28575" cap="rnd">
              <a:solidFill>
                <a:schemeClr val="accent2"/>
              </a:solidFill>
              <a:round/>
            </a:ln>
          </p:spPr>
        </p:sp>
        <p:sp>
          <p:nvSpPr>
            <p:cNvPr id="13" name="Ellipse 13"/>
            <p:cNvSpPr/>
            <p:nvPr/>
          </p:nvSpPr>
          <p:spPr>
            <a:xfrm>
              <a:off x="2667000" y="2819400"/>
              <a:ext cx="647700" cy="647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2812059" y="308181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隐私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532812" y="373618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先预览再确认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3390900" y="3143250"/>
              <a:ext cx="1314450" cy="9525"/>
            </a:xfrm>
            <a:custGeom>
              <a:avLst/>
              <a:gdLst/>
              <a:ahLst/>
              <a:cxnLst/>
              <a:rect l="l" t="t" r="r" b="b"/>
              <a:pathLst>
                <a:path w="1314450" h="9525">
                  <a:moveTo>
                    <a:pt x="0" y="0"/>
                  </a:moveTo>
                  <a:lnTo>
                    <a:pt x="1314450" y="0"/>
                  </a:lnTo>
                </a:path>
              </a:pathLst>
            </a:custGeom>
            <a:noFill/>
            <a:ln w="28575" cap="rnd">
              <a:solidFill>
                <a:schemeClr val="accent2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4676775" y="3076575"/>
              <a:ext cx="142875" cy="133350"/>
            </a:xfrm>
            <a:custGeom>
              <a:avLst/>
              <a:gdLst/>
              <a:ahLst/>
              <a:cxnLst/>
              <a:rect l="l" t="t" r="r" b="b"/>
              <a:pathLst>
                <a:path w="142875" h="133350">
                  <a:moveTo>
                    <a:pt x="0" y="0"/>
                  </a:moveTo>
                  <a:lnTo>
                    <a:pt x="142875" y="66675"/>
                  </a:lnTo>
                  <a:lnTo>
                    <a:pt x="0" y="133350"/>
                  </a:lnTo>
                </a:path>
              </a:pathLst>
            </a:custGeom>
            <a:noFill/>
            <a:ln w="28575" cap="rnd">
              <a:solidFill>
                <a:schemeClr val="accent2"/>
              </a:solidFill>
              <a:round/>
            </a:ln>
          </p:spPr>
        </p:sp>
        <p:sp>
          <p:nvSpPr>
            <p:cNvPr id="18" name="Ellipse 18"/>
            <p:cNvSpPr/>
            <p:nvPr/>
          </p:nvSpPr>
          <p:spPr>
            <a:xfrm>
              <a:off x="4781550" y="2819400"/>
              <a:ext cx="647700" cy="647700"/>
            </a:xfrm>
            <a:prstGeom prst="ellipse">
              <a:avLst/>
            </a:prstGeom>
            <a:solidFill>
              <a:srgbClr val="6D7BB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926609" y="308181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知识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571975" y="3736181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官方来源可追溯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5505450" y="3143250"/>
              <a:ext cx="1314450" cy="9525"/>
            </a:xfrm>
            <a:custGeom>
              <a:avLst/>
              <a:gdLst/>
              <a:ahLst/>
              <a:cxnLst/>
              <a:rect l="l" t="t" r="r" b="b"/>
              <a:pathLst>
                <a:path w="1314450" h="9525">
                  <a:moveTo>
                    <a:pt x="0" y="0"/>
                  </a:moveTo>
                  <a:lnTo>
                    <a:pt x="1314450" y="0"/>
                  </a:lnTo>
                </a:path>
              </a:pathLst>
            </a:custGeom>
            <a:noFill/>
            <a:ln w="28575" cap="rnd">
              <a:solidFill>
                <a:schemeClr val="accent2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6791325" y="3076575"/>
              <a:ext cx="142875" cy="133350"/>
            </a:xfrm>
            <a:custGeom>
              <a:avLst/>
              <a:gdLst/>
              <a:ahLst/>
              <a:cxnLst/>
              <a:rect l="l" t="t" r="r" b="b"/>
              <a:pathLst>
                <a:path w="142875" h="133350">
                  <a:moveTo>
                    <a:pt x="0" y="0"/>
                  </a:moveTo>
                  <a:lnTo>
                    <a:pt x="142875" y="66675"/>
                  </a:lnTo>
                  <a:lnTo>
                    <a:pt x="0" y="133350"/>
                  </a:lnTo>
                </a:path>
              </a:pathLst>
            </a:custGeom>
            <a:noFill/>
            <a:ln w="28575" cap="rnd">
              <a:solidFill>
                <a:schemeClr val="accent2"/>
              </a:solidFill>
              <a:round/>
            </a:ln>
          </p:spPr>
        </p:sp>
        <p:sp>
          <p:nvSpPr>
            <p:cNvPr id="23" name="Ellipse 23"/>
            <p:cNvSpPr/>
            <p:nvPr/>
          </p:nvSpPr>
          <p:spPr>
            <a:xfrm>
              <a:off x="6896100" y="2819400"/>
              <a:ext cx="647700" cy="647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041159" y="308181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诊断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686525" y="3736181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结构化且有边界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7620000" y="3143250"/>
              <a:ext cx="1314450" cy="9525"/>
            </a:xfrm>
            <a:custGeom>
              <a:avLst/>
              <a:gdLst/>
              <a:ahLst/>
              <a:cxnLst/>
              <a:rect l="l" t="t" r="r" b="b"/>
              <a:pathLst>
                <a:path w="1314450" h="9525">
                  <a:moveTo>
                    <a:pt x="0" y="0"/>
                  </a:moveTo>
                  <a:lnTo>
                    <a:pt x="1314450" y="0"/>
                  </a:lnTo>
                </a:path>
              </a:pathLst>
            </a:custGeom>
            <a:noFill/>
            <a:ln w="28575" cap="rnd">
              <a:solidFill>
                <a:schemeClr val="accent2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8905875" y="3076575"/>
              <a:ext cx="142875" cy="133350"/>
            </a:xfrm>
            <a:custGeom>
              <a:avLst/>
              <a:gdLst/>
              <a:ahLst/>
              <a:cxnLst/>
              <a:rect l="l" t="t" r="r" b="b"/>
              <a:pathLst>
                <a:path w="142875" h="133350">
                  <a:moveTo>
                    <a:pt x="0" y="0"/>
                  </a:moveTo>
                  <a:lnTo>
                    <a:pt x="142875" y="66675"/>
                  </a:lnTo>
                  <a:lnTo>
                    <a:pt x="0" y="133350"/>
                  </a:lnTo>
                </a:path>
              </a:pathLst>
            </a:custGeom>
            <a:noFill/>
            <a:ln w="28575" cap="rnd">
              <a:solidFill>
                <a:schemeClr val="accent2"/>
              </a:solidFill>
              <a:round/>
            </a:ln>
          </p:spPr>
        </p:sp>
        <p:sp>
          <p:nvSpPr>
            <p:cNvPr id="28" name="Ellipse 28"/>
            <p:cNvSpPr/>
            <p:nvPr/>
          </p:nvSpPr>
          <p:spPr>
            <a:xfrm>
              <a:off x="9010650" y="2819400"/>
              <a:ext cx="647700" cy="647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155709" y="308181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复盘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504362" y="3736181"/>
              <a:ext cx="16602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报告 / PNG / MP3 / ZIP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4762500"/>
              <a:ext cx="11125200" cy="838200"/>
            </a:xfrm>
            <a:prstGeom prst="roundRect">
              <a:avLst>
                <a:gd name="adj" fmla="val 20455"/>
              </a:avLst>
            </a:prstGeom>
            <a:solidFill>
              <a:schemeClr val="accent1"/>
            </a:solidFill>
            <a:ln w="14288">
              <a:solidFill>
                <a:schemeClr val="accent1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31723" y="4986814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D8E5E1"/>
                  </a:solidFill>
                  <a:latin typeface="Arial"/>
                  <a:ea typeface="Microsoft YaHei"/>
                  <a:cs typeface="Arial"/>
                </a:rPr>
                <a:t>现场演示顺序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31342" y="5245418"/>
              <a:ext cx="525319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脱敏预览 → 用户确认 → 诊断与引用 → 三模态产物 → 失败降级说明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26923" y="5910739"/>
              <a:ext cx="61387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708087"/>
                  </a:solidFill>
                  <a:latin typeface="Arial"/>
                  <a:ea typeface="Microsoft YaHei"/>
                  <a:cs typeface="Arial"/>
                </a:rPr>
                <a:t>云端 live、本地 fallback、固定 replay：三者都可以演示，但必须被准确命名。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533400" y="6429375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C5D2CC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28447" y="6552724"/>
              <a:ext cx="16530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08087"/>
                  </a:solidFill>
                  <a:latin typeface="Arial"/>
                  <a:ea typeface="Microsoft YaHei"/>
                  <a:cs typeface="Arial"/>
                </a:rPr>
                <a:t>DebugMate · 课程答辩收束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debugmate-defense-ppt">
  <a:themeElements>
    <a:clrScheme name="debugmate-defense-ppt">
      <a:dk1>
        <a:srgbClr val="33424D"/>
      </a:dk1>
      <a:lt1>
        <a:srgbClr val="F7F5EF"/>
      </a:lt1>
      <a:dk2>
        <a:srgbClr val="33424D"/>
      </a:dk2>
      <a:lt2>
        <a:srgbClr val="F7F5EF"/>
      </a:lt2>
      <a:accent1>
        <a:srgbClr val="14212B"/>
      </a:accent1>
      <a:accent2>
        <a:srgbClr val="0F9D8A"/>
      </a:accent2>
      <a:accent3>
        <a:srgbClr val="F0784A"/>
      </a:accent3>
      <a:accent4>
        <a:srgbClr val="14212B"/>
      </a:accent4>
      <a:accent5>
        <a:srgbClr val="4BACC6"/>
      </a:accent5>
      <a:accent6>
        <a:srgbClr val="F79646"/>
      </a:accent6>
      <a:hlink>
        <a:srgbClr val="0F9D8A"/>
      </a:hlink>
      <a:folHlink>
        <a:srgbClr val="F0784A"/>
      </a:folHlink>
    </a:clrScheme>
    <a:fontScheme name="debugmate-defense-ppt">
      <a:majorFont>
        <a:latin typeface="Aptos Display"/>
        <a:ea typeface="Microsoft YaHei"/>
        <a:cs typeface="Aptos Display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Microsoft YaHei"/>
        <a:cs typeface="Aptos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bugmate-defense-p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2026-08-31T16:41:13Z</dcterms:created>
  <dcterms:modified xsi:type="dcterms:W3CDTF">2026-08-31T16:41:13Z</dcterms:modified>
  <cp:category/>
  <cp:contentStatus/>
</cp:coreProperties>
</file>