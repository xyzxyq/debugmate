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28016" cy="502920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325880"/>
            <a:ext cx="9875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DebugMate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Microsoft YaHei"/>
              </a:defRPr>
            </a:pPr>
            <a:r>
              <a:t>面向 AI 专业学习场景的多模态报错诊断与复盘智能体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BEDEEB"/>
                </a:solidFill>
                <a:latin typeface="Microsoft YaHei"/>
              </a:defRPr>
            </a:pPr>
            <a:r>
              <a:t>《校外实训》课程项目 · V0.1 本地演示版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有依据 · 可执行 · 说明不确定性 · 文字 / PNG / MP3 同源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为什么要做 DebugMate？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42976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报错信息复杂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01752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Traceback、环境、版本、路径和截图分散，学生很难判断应该先检查哪一项。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73152" cy="429768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通用回答缺证据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737360"/>
            <a:ext cx="301752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普通对话容易给出看似合理的安装命令，却没有绑定当前环境和官方资料。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234440"/>
            <a:ext cx="73152" cy="429768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复盘难以沉淀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737360"/>
            <a:ext cx="301752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一次修好不等于真正理解；缺少结构化报告、流程图和语音总结。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2B46"/>
                </a:solidFill>
                <a:latin typeface="Microsoft YaHei"/>
              </a:defRPr>
            </a:pPr>
            <a:r>
              <a:t>目标：把一次报错转化为可追溯、可检查、可复盘的学习过程。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V0.1 的目标与边界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按课程价值收束，而非生产发布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438912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4800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必须完成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754880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Windows 本地浏览器真实演示</a:t>
            </a:r>
            <a:br/>
            <a:r>
              <a:t>• 专属知识库与完整工作流</a:t>
            </a:r>
            <a:br/>
            <a:r>
              <a:t>• 上传前自动脱敏 + 预览确认</a:t>
            </a:r>
            <a:br/>
            <a:r>
              <a:t>• 同源文字报告、PNG、MP3、ZIP</a:t>
            </a:r>
            <a:br/>
            <a:r>
              <a:t>• 3–5 个代表性案例</a:t>
            </a:r>
            <a:br/>
            <a:r>
              <a:t>• PPT 与 3 分钟以上讲解视频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3444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234440"/>
            <a:ext cx="73152" cy="4389120"/>
          </a:xfrm>
          <a:prstGeom prst="rect">
            <a:avLst/>
          </a:prstGeom>
          <a:solidFill>
            <a:srgbClr val="CC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344168"/>
            <a:ext cx="4800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CC841E"/>
                </a:solidFill>
                <a:latin typeface="Microsoft YaHei"/>
              </a:defRPr>
            </a:pPr>
            <a:r>
              <a:t>明确延后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737360"/>
            <a:ext cx="4754880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公网部署、账户与权限</a:t>
            </a:r>
            <a:br/>
            <a:r>
              <a:t>• SLA、监控、并发和跨平台</a:t>
            </a:r>
            <a:br/>
            <a:r>
              <a:t>• 完整 15 行视觉认证</a:t>
            </a:r>
            <a:br/>
            <a:r>
              <a:t>• 原子 evidence generation/pointer</a:t>
            </a:r>
            <a:br/>
            <a:r>
              <a:t>• 故障注入和攻击矩阵</a:t>
            </a:r>
            <a:br/>
            <a:r>
              <a:t>• 必须依赖付费云端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工具分工与总体架构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云端可选增强，本地闭环保证可演示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73152" cy="22402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多模态输入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文本 / 截图 / 代码 / 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874519"/>
            <a:ext cx="73152" cy="224028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39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隐私预览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OCR + 规则脱敏 + 用户确认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1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874519"/>
            <a:ext cx="73152" cy="224028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诊断工作流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分类 + 知识检索 + 结构化推理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874519"/>
            <a:ext cx="73152" cy="22402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单一事实源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DiagnosisRecord 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1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874519"/>
            <a:ext cx="73152" cy="224028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三模态结果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报告 + PNG + MP3 + ZIP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0060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2B46"/>
                </a:solidFill>
                <a:latin typeface="Microsoft YaHei"/>
              </a:defRPr>
            </a:pPr>
            <a:r>
              <a:t>Dify Cloud：视觉 / RAG / LLM 编排（可选）    |    本地 Python：脱敏 / 校验 / 产物 / Gradio（稳定主闭环）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专属知识库：只用可核验官方来源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17 个来源，覆盖 7 类技术主题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73152" cy="150876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Python 异常与导入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280160"/>
            <a:ext cx="73152" cy="150876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pip / venv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656" y="1280160"/>
            <a:ext cx="73152" cy="150876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PyTorch 张量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1280160"/>
            <a:ext cx="73152" cy="150876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3184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CUDA 与显存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004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200400"/>
            <a:ext cx="73152" cy="150876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1012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Hugging 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32004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38728" y="3200400"/>
            <a:ext cx="73152" cy="150876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331012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Ultralytics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370332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91656" y="32004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91656" y="3200400"/>
            <a:ext cx="73152" cy="150876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331012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Windows 路径 / PowerShell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370332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诊断输出引用命中的 evidence_id；没有证据时写明缺失信息，而不是补造确定结论。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隐私安全与完整工作流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自动脱敏 + 上传前预览确认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143000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430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2471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本机校验输入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837943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19655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OCR / 正则发现敏感项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32888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3288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146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生成脱敏文本与遮挡图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27832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09544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用户预览并确认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22776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227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0448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事实抽取与纠错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617720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9943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知识检索与诊断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312664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1266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294376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多模态派生与二次扫描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280160"/>
            <a:ext cx="4617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1280160"/>
            <a:ext cx="73152" cy="429768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389888"/>
            <a:ext cx="42519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默认保护对象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783080"/>
            <a:ext cx="420624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Token / 密码</a:t>
            </a:r>
            <a:br/>
            <a:r>
              <a:t>邮箱 / 用户名</a:t>
            </a:r>
            <a:br/>
            <a:r>
              <a:t>Windows 与 Linux 绝对路径</a:t>
            </a:r>
            <a:br/>
            <a:r>
              <a:t>截图中的敏感像素区域</a:t>
            </a:r>
            <a:br/>
            <a:r>
              <a:t>日志与导出物中的二次泄漏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提示词 V1–V4：从“能回答”到“可派生”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优化重点是结构、证据和一致性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3474720"/>
          </a:xfrm>
          <a:prstGeom prst="rect">
            <a:avLst/>
          </a:prstGeom>
          <a:solidFill>
            <a:srgbClr val="5B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5B6C7A"/>
                </a:solidFill>
                <a:latin typeface="Microsoft YaHei"/>
              </a:defRPr>
            </a:pPr>
            <a:r>
              <a:t>V1 · 基础诊断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类别 / 原因 / 步骤</a:t>
            </a:r>
            <a:br/>
            <a:r>
              <a:t>问题：格式与依据不稳定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417320"/>
            <a:ext cx="73152" cy="347472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V2 · 引用约束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fact/evidence 绑定</a:t>
            </a:r>
            <a:br/>
            <a:r>
              <a:t>事实 / 推断 / 缺失信息分离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417320"/>
            <a:ext cx="73152" cy="347472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V3 · 结构可靠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DiagnosisRecord JSON</a:t>
            </a:r>
            <a:br/>
            <a:r>
              <a:t>命令影响 / 预期 / 回退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576" y="1417320"/>
            <a:ext cx="73152" cy="347472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V4 · 课程定稿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recap 长度与中英分工</a:t>
            </a:r>
            <a:br/>
            <a:r>
              <a:t>报告 / PNG / MP3 同源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2B46"/>
                </a:solidFill>
                <a:latin typeface="Microsoft YaHei"/>
              </a:defRPr>
            </a:pPr>
            <a:r>
              <a:t>真实性说明：V1 已由固定案例 manifest 记录；V2–V4 为可直接配置的设计迭代，不伪造云端批量分数。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完整成果：统一诊断工作台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当前代码真实 Microsoft Edge 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1943"/>
            <a:ext cx="7452360" cy="3437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73152" cy="438912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344168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页面同时展示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2926079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脱敏输入与抽取字段</a:t>
            </a:r>
            <a:br/>
            <a:r>
              <a:t>• 错误类别与置信度</a:t>
            </a:r>
            <a:br/>
            <a:r>
              <a:t>• 事实和官方引用</a:t>
            </a:r>
            <a:br/>
            <a:r>
              <a:t>• 文字报告 / 诊断卡 / 语音</a:t>
            </a:r>
            <a:br/>
            <a:r>
              <a:t>• 来源运行标识</a:t>
            </a:r>
            <a:br/>
            <a:r>
              <a:t>• 完整 ZIP 下载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806440"/>
            <a:ext cx="3246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B713E"/>
                </a:solidFill>
                <a:latin typeface="Microsoft YaHei"/>
              </a:defRPr>
            </a:pPr>
            <a:r>
              <a:t>页面明确标注“离线回放”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三模态由同一诊断对象派生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不是装饰图片或无关配音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3434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35607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文字报告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3017520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事实、根因候选、缺失信息、检查、修复、验证、置信度与局限。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434340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35607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PNG 诊断卡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3017520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Pillow 确定性绘制，保留类别、证据关系和关键步骤；不让图像模型改写证据。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434340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35607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MP3 语音复盘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017520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从同一 recap_text 合成；记录后端、时长和降级原因，并用 FFmpeg 验证。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5216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共同身份：case_id + source_run_id + diagnosis hash + schema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失败也要诚实：部分完成与最小重试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当前代码真实 Edge 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2177"/>
            <a:ext cx="5440680" cy="28079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162177"/>
            <a:ext cx="5440680" cy="2807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989320"/>
            <a:ext cx="5074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C841E"/>
                </a:solidFill>
                <a:latin typeface="Microsoft YaHei"/>
              </a:defRPr>
            </a:pPr>
            <a:r>
              <a:t>TTS 失败：保留报告与诊断卡，只重试语音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98932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C841E"/>
                </a:solidFill>
                <a:latin typeface="Microsoft YaHei"/>
              </a:defRPr>
            </a:pPr>
            <a:r>
              <a:t>PNG 失败：保留报告与语音，只重试诊断卡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V0.1 代表性验证结果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课程演示所需，而非生产发布认证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25880"/>
            <a:ext cx="73152" cy="196596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界面 / 状态 / 回调测试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31885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325880"/>
            <a:ext cx="73152" cy="196596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报告 / PNG / MP3 / 结果模块测试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2A6F97"/>
                </a:solidFill>
                <a:latin typeface="Microsoft YaHei"/>
              </a:defRPr>
            </a:pPr>
            <a:r>
              <a:t>264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1325880"/>
            <a:ext cx="73152" cy="196596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代表性真实 Edge 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EB713E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44584" y="1325880"/>
            <a:ext cx="73152" cy="196596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真实 ZIP 同次运行验证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2BA6B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033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键盘顺序与状态播报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200% 缩放与无整体横向溢出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长报告、长命令和高诊断卡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成功 / 部分完成 / 失败状态辨识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ZIP 文件名、MIME、manifest、校验值与 source_run_id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局限与后续改进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如实说明大模型工具的边界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4434840"/>
          </a:xfrm>
          <a:prstGeom prst="rect">
            <a:avLst/>
          </a:prstGeom>
          <a:solidFill>
            <a:srgbClr val="CC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CC841E"/>
                </a:solidFill>
                <a:latin typeface="Microsoft YaHei"/>
              </a:defRPr>
            </a:pPr>
            <a:r>
              <a:t>当前局限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17520" cy="381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Dify 在线能力受账号与额度影响</a:t>
            </a:r>
            <a:br/>
            <a:r>
              <a:t>• 案例数量少，不能代表全面覆盖</a:t>
            </a:r>
            <a:br/>
            <a:r>
              <a:t>• SAPI 正式录制前需人工试听</a:t>
            </a:r>
            <a:br/>
            <a:r>
              <a:t>• 回放不等同于云端实时推理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443484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近期改进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3017520" cy="381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完成 Dify 图像 + RAG smoke test</a:t>
            </a:r>
            <a:br/>
            <a:r>
              <a:t>• 增加 CUDA 显存和张量形状案例</a:t>
            </a:r>
            <a:br/>
            <a:r>
              <a:t>• 用同案例对照 V1–V4</a:t>
            </a:r>
            <a:br/>
            <a:r>
              <a:t>• 继续精简首屏和录屏操作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443484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长期方向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017520" cy="381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更多框架与错误类别</a:t>
            </a:r>
            <a:br/>
            <a:r>
              <a:t>• 个性化学习复盘</a:t>
            </a:r>
            <a:br/>
            <a:r>
              <a:t>• 可信度校准与人机协作</a:t>
            </a:r>
            <a:br/>
            <a:r>
              <a:t>• 经批准后再考虑部署与监控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DebugMate V0.1 已形成完整课程闭环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一次真实或可复现的 AI/Python 报错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EB713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2A6F97"/>
                </a:solidFill>
                <a:latin typeface="Microsoft YaHei"/>
              </a:defRPr>
            </a:pPr>
            <a:r>
              <a:t>隐私确认 + 官方知识 + 结构化诊断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EB713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31885B"/>
                </a:solidFill>
                <a:latin typeface="Microsoft YaHei"/>
              </a:defRPr>
            </a:pPr>
            <a:r>
              <a:t>文字报告 + PNG 诊断卡 + MP3 语音复盘 + 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22B46"/>
                </a:solidFill>
                <a:latin typeface="Microsoft YaHei"/>
              </a:defRPr>
            </a:pPr>
            <a:r>
              <a:t>帮助 AI 专业学生把“修好一次”变成“理解并复盘一次”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